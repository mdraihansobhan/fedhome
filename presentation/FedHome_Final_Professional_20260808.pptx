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5bc3bd0aa43fe" /><Relationship Type="http://schemas.openxmlformats.org/officeDocument/2006/relationships/extended-properties" Target="/docProps/app.xml" Id="R0fcf6c778a204ab3" /><Relationship Type="http://schemas.openxmlformats.org/officeDocument/2006/relationships/officeDocument" Target="/ppt/presentation.xml" Id="R25a7003e3cbc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dda9a7d274b9b"/>
  </p:sldMasterIdLst>
  <p:notesMasterIdLst>
    <p:notesMasterId xmlns:r="http://schemas.openxmlformats.org/officeDocument/2006/relationships" r:id="R88ce7a3c536344c1"/>
  </p:notesMasterIdLst>
  <p:sldIdLst>
    <p:sldId xmlns:r="http://schemas.openxmlformats.org/officeDocument/2006/relationships" id="256" r:id="Ra943cfd0f3784216"/>
    <p:sldId xmlns:r="http://schemas.openxmlformats.org/officeDocument/2006/relationships" id="257" r:id="R6893c8c645374467"/>
    <p:sldId xmlns:r="http://schemas.openxmlformats.org/officeDocument/2006/relationships" id="258" r:id="Rf8247afc0f434c93"/>
    <p:sldId xmlns:r="http://schemas.openxmlformats.org/officeDocument/2006/relationships" id="259" r:id="R015871da8a934098"/>
    <p:sldId xmlns:r="http://schemas.openxmlformats.org/officeDocument/2006/relationships" id="260" r:id="R5686ca590ae14be4"/>
    <p:sldId xmlns:r="http://schemas.openxmlformats.org/officeDocument/2006/relationships" id="261" r:id="Red62b63d34074cfb"/>
    <p:sldId xmlns:r="http://schemas.openxmlformats.org/officeDocument/2006/relationships" id="262" r:id="Rfbc0df0595c84d80"/>
    <p:sldId xmlns:r="http://schemas.openxmlformats.org/officeDocument/2006/relationships" id="263" r:id="R38a571280c314f86"/>
    <p:sldId xmlns:r="http://schemas.openxmlformats.org/officeDocument/2006/relationships" id="264" r:id="Rfd378e66bdee47f6"/>
    <p:sldId xmlns:r="http://schemas.openxmlformats.org/officeDocument/2006/relationships" id="265" r:id="R1e35ab84a6cb4c09"/>
    <p:sldId xmlns:r="http://schemas.openxmlformats.org/officeDocument/2006/relationships" id="266" r:id="Re75bf0d1f5894192"/>
    <p:sldId xmlns:r="http://schemas.openxmlformats.org/officeDocument/2006/relationships" id="267" r:id="Rd69449ba9ab24427"/>
    <p:sldId xmlns:r="http://schemas.openxmlformats.org/officeDocument/2006/relationships" id="268" r:id="R0afa9b6063774102"/>
    <p:sldId xmlns:r="http://schemas.openxmlformats.org/officeDocument/2006/relationships" id="269" r:id="Rc138fe1034954047"/>
    <p:sldId xmlns:r="http://schemas.openxmlformats.org/officeDocument/2006/relationships" id="270" r:id="Rea26e0399060437e"/>
    <p:sldId xmlns:r="http://schemas.openxmlformats.org/officeDocument/2006/relationships" id="271" r:id="R9d8775cd5f1e42c6"/>
    <p:sldId xmlns:r="http://schemas.openxmlformats.org/officeDocument/2006/relationships" id="272" r:id="R37675cbb3b8c4ca2"/>
    <p:sldId xmlns:r="http://schemas.openxmlformats.org/officeDocument/2006/relationships" id="273" r:id="Rd1ba7f8a4d6a43b8"/>
    <p:sldId xmlns:r="http://schemas.openxmlformats.org/officeDocument/2006/relationships" id="274" r:id="R4114270d8a90453f"/>
    <p:sldId xmlns:r="http://schemas.openxmlformats.org/officeDocument/2006/relationships" id="275" r:id="Rf20e1f74c1a54604"/>
    <p:sldId xmlns:r="http://schemas.openxmlformats.org/officeDocument/2006/relationships" id="276" r:id="R248e100ce8db4f01"/>
    <p:sldId xmlns:r="http://schemas.openxmlformats.org/officeDocument/2006/relationships" id="277" r:id="Re57f958e21a04dd3"/>
    <p:sldId xmlns:r="http://schemas.openxmlformats.org/officeDocument/2006/relationships" id="278" r:id="R34d3b4bc37214cb0"/>
    <p:sldId xmlns:r="http://schemas.openxmlformats.org/officeDocument/2006/relationships" id="279" r:id="R8f2cae063473443e"/>
    <p:sldId xmlns:r="http://schemas.openxmlformats.org/officeDocument/2006/relationships" id="280" r:id="R77dc354307ac4f5f"/>
    <p:sldId xmlns:r="http://schemas.openxmlformats.org/officeDocument/2006/relationships" id="281" r:id="R022d4c46d9674042"/>
    <p:sldId xmlns:r="http://schemas.openxmlformats.org/officeDocument/2006/relationships" id="282" r:id="R1b91d5c95e6341ac"/>
    <p:sldId xmlns:r="http://schemas.openxmlformats.org/officeDocument/2006/relationships" id="283" r:id="R1aafe138b04a46a3"/>
    <p:sldId xmlns:r="http://schemas.openxmlformats.org/officeDocument/2006/relationships" id="284" r:id="R6df0fed06ce34f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a1d13f3db45f5" /><Relationship Type="http://schemas.openxmlformats.org/officeDocument/2006/relationships/slideMaster" Target="/ppt/slideMasters/slideMaster1.xml" Id="Ra9fdda9a7d274b9b" /><Relationship Type="http://schemas.openxmlformats.org/officeDocument/2006/relationships/notesMaster" Target="/ppt/notesMasters/notesMaster1.xml" Id="R88ce7a3c536344c1" /><Relationship Type="http://schemas.openxmlformats.org/officeDocument/2006/relationships/presProps" Target="/ppt/presProps.xml" Id="R30edef9d357a4ac8" /><Relationship Type="http://schemas.openxmlformats.org/officeDocument/2006/relationships/tableStyles" Target="/ppt/tableStyles.xml" Id="R3f32b5dd38004ded" /><Relationship Type="http://schemas.openxmlformats.org/officeDocument/2006/relationships/slide" Target="/ppt/slides/slide1.xml" Id="Ra943cfd0f3784216" /><Relationship Type="http://schemas.openxmlformats.org/officeDocument/2006/relationships/slide" Target="/ppt/slides/slide2.xml" Id="R6893c8c645374467" /><Relationship Type="http://schemas.openxmlformats.org/officeDocument/2006/relationships/slide" Target="/ppt/slides/slide3.xml" Id="Rf8247afc0f434c93" /><Relationship Type="http://schemas.openxmlformats.org/officeDocument/2006/relationships/slide" Target="/ppt/slides/slide4.xml" Id="R015871da8a934098" /><Relationship Type="http://schemas.openxmlformats.org/officeDocument/2006/relationships/slide" Target="/ppt/slides/slide5.xml" Id="R5686ca590ae14be4" /><Relationship Type="http://schemas.openxmlformats.org/officeDocument/2006/relationships/slide" Target="/ppt/slides/slide6.xml" Id="Red62b63d34074cfb" /><Relationship Type="http://schemas.openxmlformats.org/officeDocument/2006/relationships/slide" Target="/ppt/slides/slide7.xml" Id="Rfbc0df0595c84d80" /><Relationship Type="http://schemas.openxmlformats.org/officeDocument/2006/relationships/slide" Target="/ppt/slides/slide8.xml" Id="R38a571280c314f86" /><Relationship Type="http://schemas.openxmlformats.org/officeDocument/2006/relationships/slide" Target="/ppt/slides/slide9.xml" Id="Rfd378e66bdee47f6" /><Relationship Type="http://schemas.openxmlformats.org/officeDocument/2006/relationships/slide" Target="/ppt/slides/slide10.xml" Id="R1e35ab84a6cb4c09" /><Relationship Type="http://schemas.openxmlformats.org/officeDocument/2006/relationships/slide" Target="/ppt/slides/slide11.xml" Id="Re75bf0d1f5894192" /><Relationship Type="http://schemas.openxmlformats.org/officeDocument/2006/relationships/slide" Target="/ppt/slides/slide12.xml" Id="Rd69449ba9ab24427" /><Relationship Type="http://schemas.openxmlformats.org/officeDocument/2006/relationships/slide" Target="/ppt/slides/slide13.xml" Id="R0afa9b6063774102" /><Relationship Type="http://schemas.openxmlformats.org/officeDocument/2006/relationships/slide" Target="/ppt/slides/slide14.xml" Id="Rc138fe1034954047" /><Relationship Type="http://schemas.openxmlformats.org/officeDocument/2006/relationships/slide" Target="/ppt/slides/slide15.xml" Id="Rea26e0399060437e" /><Relationship Type="http://schemas.openxmlformats.org/officeDocument/2006/relationships/slide" Target="/ppt/slides/slide16.xml" Id="R9d8775cd5f1e42c6" /><Relationship Type="http://schemas.openxmlformats.org/officeDocument/2006/relationships/slide" Target="/ppt/slides/slide17.xml" Id="R37675cbb3b8c4ca2" /><Relationship Type="http://schemas.openxmlformats.org/officeDocument/2006/relationships/slide" Target="/ppt/slides/slide18.xml" Id="Rd1ba7f8a4d6a43b8" /><Relationship Type="http://schemas.openxmlformats.org/officeDocument/2006/relationships/slide" Target="/ppt/slides/slide19.xml" Id="R4114270d8a90453f" /><Relationship Type="http://schemas.openxmlformats.org/officeDocument/2006/relationships/slide" Target="/ppt/slides/slide20.xml" Id="Rf20e1f74c1a54604" /><Relationship Type="http://schemas.openxmlformats.org/officeDocument/2006/relationships/slide" Target="/ppt/slides/slide21.xml" Id="R248e100ce8db4f01" /><Relationship Type="http://schemas.openxmlformats.org/officeDocument/2006/relationships/slide" Target="/ppt/slides/slide22.xml" Id="Re57f958e21a04dd3" /><Relationship Type="http://schemas.openxmlformats.org/officeDocument/2006/relationships/slide" Target="/ppt/slides/slide23.xml" Id="R34d3b4bc37214cb0" /><Relationship Type="http://schemas.openxmlformats.org/officeDocument/2006/relationships/slide" Target="/ppt/slides/slide24.xml" Id="R8f2cae063473443e" /><Relationship Type="http://schemas.openxmlformats.org/officeDocument/2006/relationships/slide" Target="/ppt/slides/slide25.xml" Id="R77dc354307ac4f5f" /><Relationship Type="http://schemas.openxmlformats.org/officeDocument/2006/relationships/slide" Target="/ppt/slides/slide26.xml" Id="R022d4c46d9674042" /><Relationship Type="http://schemas.openxmlformats.org/officeDocument/2006/relationships/slide" Target="/ppt/slides/slide27.xml" Id="R1b91d5c95e6341ac" /><Relationship Type="http://schemas.openxmlformats.org/officeDocument/2006/relationships/slide" Target="/ppt/slides/slide28.xml" Id="R1aafe138b04a46a3" /><Relationship Type="http://schemas.openxmlformats.org/officeDocument/2006/relationships/slide" Target="/ppt/slides/slide29.xml" Id="R6df0fed06ce3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496dedea0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e50c1f35e48ae" /><Relationship Type="http://schemas.openxmlformats.org/officeDocument/2006/relationships/notesMaster" Target="/ppt/notesMasters/notesMaster1.xml" Id="Rc2113c334ee7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65775d57c462a" /><Relationship Type="http://schemas.openxmlformats.org/officeDocument/2006/relationships/notesMaster" Target="/ppt/notesMasters/notesMaster1.xml" Id="R03b1250303484e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0cdcf86db4f99" /><Relationship Type="http://schemas.openxmlformats.org/officeDocument/2006/relationships/notesMaster" Target="/ppt/notesMasters/notesMaster1.xml" Id="R36c082820852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3c1e2035644fd9" /><Relationship Type="http://schemas.openxmlformats.org/officeDocument/2006/relationships/notesMaster" Target="/ppt/notesMasters/notesMaster1.xml" Id="R66f55297934f4b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22f2758e3f4686" /><Relationship Type="http://schemas.openxmlformats.org/officeDocument/2006/relationships/notesMaster" Target="/ppt/notesMasters/notesMaster1.xml" Id="R987e775d0d3544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65634014524ae0" /><Relationship Type="http://schemas.openxmlformats.org/officeDocument/2006/relationships/notesMaster" Target="/ppt/notesMasters/notesMaster1.xml" Id="Rc91bec28456b43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b222a6d4ea44d0" /><Relationship Type="http://schemas.openxmlformats.org/officeDocument/2006/relationships/notesMaster" Target="/ppt/notesMasters/notesMaster1.xml" Id="Re9d5d61b8d7240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b0ad77bdb64421" /><Relationship Type="http://schemas.openxmlformats.org/officeDocument/2006/relationships/notesMaster" Target="/ppt/notesMasters/notesMaster1.xml" Id="Rf81b9f518acd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73269dcb3a46c3" /><Relationship Type="http://schemas.openxmlformats.org/officeDocument/2006/relationships/notesMaster" Target="/ppt/notesMasters/notesMaster1.xml" Id="Re6c4515e6c7c4e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7e26a07331409d" /><Relationship Type="http://schemas.openxmlformats.org/officeDocument/2006/relationships/notesMaster" Target="/ppt/notesMasters/notesMaster1.xml" Id="R96952607fd454d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c5423863654e7f" /><Relationship Type="http://schemas.openxmlformats.org/officeDocument/2006/relationships/notesMaster" Target="/ppt/notesMasters/notesMaster1.xml" Id="Rc726ae67177045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588b0a27e347b8" /><Relationship Type="http://schemas.openxmlformats.org/officeDocument/2006/relationships/notesMaster" Target="/ppt/notesMasters/notesMaster1.xml" Id="R511ba5c3084642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9034ec6f34137" /><Relationship Type="http://schemas.openxmlformats.org/officeDocument/2006/relationships/notesMaster" Target="/ppt/notesMasters/notesMaster1.xml" Id="Rd67afffdea7947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09ba920558491a" /><Relationship Type="http://schemas.openxmlformats.org/officeDocument/2006/relationships/notesMaster" Target="/ppt/notesMasters/notesMaster1.xml" Id="Rb8fc8365c81a4c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55e75706494e25" /><Relationship Type="http://schemas.openxmlformats.org/officeDocument/2006/relationships/notesMaster" Target="/ppt/notesMasters/notesMaster1.xml" Id="R3b093917273b4e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096a9d128244e8" /><Relationship Type="http://schemas.openxmlformats.org/officeDocument/2006/relationships/notesMaster" Target="/ppt/notesMasters/notesMaster1.xml" Id="R7809a4ca15904c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ca855ec6164e7a" /><Relationship Type="http://schemas.openxmlformats.org/officeDocument/2006/relationships/notesMaster" Target="/ppt/notesMasters/notesMaster1.xml" Id="R156838d4f8b64b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0124eb272e49ff" /><Relationship Type="http://schemas.openxmlformats.org/officeDocument/2006/relationships/notesMaster" Target="/ppt/notesMasters/notesMaster1.xml" Id="Re5107827238049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719c26e6b047da" /><Relationship Type="http://schemas.openxmlformats.org/officeDocument/2006/relationships/notesMaster" Target="/ppt/notesMasters/notesMaster1.xml" Id="Rdf7b10ddd2a04a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4f390399f94459" /><Relationship Type="http://schemas.openxmlformats.org/officeDocument/2006/relationships/notesMaster" Target="/ppt/notesMasters/notesMaster1.xml" Id="Ra2dd56aed95547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5668a97ebc472c" /><Relationship Type="http://schemas.openxmlformats.org/officeDocument/2006/relationships/notesMaster" Target="/ppt/notesMasters/notesMaster1.xml" Id="R656f96f53fae43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632b9ced6046a6" /><Relationship Type="http://schemas.openxmlformats.org/officeDocument/2006/relationships/notesMaster" Target="/ppt/notesMasters/notesMaster1.xml" Id="R44767a0b71094d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5830aee0004808" /><Relationship Type="http://schemas.openxmlformats.org/officeDocument/2006/relationships/notesMaster" Target="/ppt/notesMasters/notesMaster1.xml" Id="Rda6fcf9e92bd43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f35d7eff564440" /><Relationship Type="http://schemas.openxmlformats.org/officeDocument/2006/relationships/notesMaster" Target="/ppt/notesMasters/notesMaster1.xml" Id="R6bc21f149dd64e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895c57d41d49a9" /><Relationship Type="http://schemas.openxmlformats.org/officeDocument/2006/relationships/notesMaster" Target="/ppt/notesMasters/notesMaster1.xml" Id="R4f72c748e04f4ae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d51f7978634eb7" /><Relationship Type="http://schemas.openxmlformats.org/officeDocument/2006/relationships/notesMaster" Target="/ppt/notesMasters/notesMaster1.xml" Id="R03c7cebeff37474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dc397cb24e43bb" /><Relationship Type="http://schemas.openxmlformats.org/officeDocument/2006/relationships/notesMaster" Target="/ppt/notesMasters/notesMaster1.xml" Id="R7fec9a47bbfb41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7138d00ade48b0" /><Relationship Type="http://schemas.openxmlformats.org/officeDocument/2006/relationships/notesMaster" Target="/ppt/notesMasters/notesMaster1.xml" Id="Ra5b8441a3e5a44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3c44dd22a9c4b80" /><Relationship Type="http://schemas.openxmlformats.org/officeDocument/2006/relationships/notesMaster" Target="/ppt/notesMasters/notesMaster1.xml" Id="Rb23dc282c5e9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28eea1f3c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dfce6bae04dfa" /><Relationship Type="http://schemas.openxmlformats.org/officeDocument/2006/relationships/slideLayout" Target="/ppt/slideLayouts/slideLayout1.xml" Id="R58ea9ab86bc0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a9ab86bc0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269df9bb4305" /><Relationship Type="http://schemas.openxmlformats.org/officeDocument/2006/relationships/notesSlide" Target="/ppt/notesSlides/notesSlide1.xml" Id="R4a05ed2b1ce9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d7f66c4b74651" /><Relationship Type="http://schemas.openxmlformats.org/officeDocument/2006/relationships/notesSlide" Target="/ppt/notesSlides/notesSlide2.xml" Id="R66e86408e004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2e4bcf424c3d" /><Relationship Type="http://schemas.openxmlformats.org/officeDocument/2006/relationships/notesSlide" Target="/ppt/notesSlides/notesSlide3.xml" Id="R1b1498bb92a0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4fba30079417a" /><Relationship Type="http://schemas.openxmlformats.org/officeDocument/2006/relationships/notesSlide" Target="/ppt/notesSlides/notesSlide4.xml" Id="R6760100aee1f40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074bbf79747af" /><Relationship Type="http://schemas.openxmlformats.org/officeDocument/2006/relationships/notesSlide" Target="/ppt/notesSlides/notesSlide5.xml" Id="Rf65277b8669644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e1ccae3ee4e57" /><Relationship Type="http://schemas.openxmlformats.org/officeDocument/2006/relationships/notesSlide" Target="/ppt/notesSlides/notesSlide6.xml" Id="Reafd88b4ad31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e6554393b4921" /><Relationship Type="http://schemas.openxmlformats.org/officeDocument/2006/relationships/notesSlide" Target="/ppt/notesSlides/notesSlide7.xml" Id="R0712d474af7540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017b2fed4146" /><Relationship Type="http://schemas.openxmlformats.org/officeDocument/2006/relationships/notesSlide" Target="/ppt/notesSlides/notesSlide8.xml" Id="R748228959acd47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20c9ce6584775" /><Relationship Type="http://schemas.openxmlformats.org/officeDocument/2006/relationships/notesSlide" Target="/ppt/notesSlides/notesSlide9.xml" Id="R4a89978758cd47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9f1beab354c52" /><Relationship Type="http://schemas.openxmlformats.org/officeDocument/2006/relationships/notesSlide" Target="/ppt/notesSlides/notesSlide10.xml" Id="Ra606392692454c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62f8c5e9742a9" /><Relationship Type="http://schemas.openxmlformats.org/officeDocument/2006/relationships/notesSlide" Target="/ppt/notesSlides/notesSlide11.xml" Id="R4f1309b1b3ff4d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06691d7f34924" /><Relationship Type="http://schemas.openxmlformats.org/officeDocument/2006/relationships/notesSlide" Target="/ppt/notesSlides/notesSlide12.xml" Id="Rff3b9e43295242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662284bd14629" /><Relationship Type="http://schemas.openxmlformats.org/officeDocument/2006/relationships/notesSlide" Target="/ppt/notesSlides/notesSlide13.xml" Id="R15544b68b20142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07c38e8cc4b5d" /><Relationship Type="http://schemas.openxmlformats.org/officeDocument/2006/relationships/notesSlide" Target="/ppt/notesSlides/notesSlide14.xml" Id="Redfbdd0c16ab42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fc40c25b54f3d" /><Relationship Type="http://schemas.openxmlformats.org/officeDocument/2006/relationships/notesSlide" Target="/ppt/notesSlides/notesSlide15.xml" Id="Recea42a7001541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451efdc624aa6" /><Relationship Type="http://schemas.openxmlformats.org/officeDocument/2006/relationships/notesSlide" Target="/ppt/notesSlides/notesSlide16.xml" Id="R97bf63e4c88f45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fa47008f4bb7" /><Relationship Type="http://schemas.openxmlformats.org/officeDocument/2006/relationships/notesSlide" Target="/ppt/notesSlides/notesSlide17.xml" Id="R444ff101129845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b1e24d3345c0" /><Relationship Type="http://schemas.openxmlformats.org/officeDocument/2006/relationships/image" Target="/ppt/media/image.png" Id="R75ff3a3a4a9a481a" /><Relationship Type="http://schemas.openxmlformats.org/officeDocument/2006/relationships/notesSlide" Target="/ppt/notesSlides/notesSlide18.xml" Id="Redb8bc8b304b4d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c0fbe4b5a47a0" /><Relationship Type="http://schemas.openxmlformats.org/officeDocument/2006/relationships/image" Target="/ppt/media/image2.png" Id="Rd5e0efc8b0de4061" /><Relationship Type="http://schemas.openxmlformats.org/officeDocument/2006/relationships/image" Target="/ppt/media/image3.png" Id="Ra65f805096a24ae5" /><Relationship Type="http://schemas.openxmlformats.org/officeDocument/2006/relationships/notesSlide" Target="/ppt/notesSlides/notesSlide19.xml" Id="Ra89ec3e5934b47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5ef4b0f34c2b" /><Relationship Type="http://schemas.openxmlformats.org/officeDocument/2006/relationships/image" Target="/ppt/media/image4.png" Id="Rc25a779a543c488b" /><Relationship Type="http://schemas.openxmlformats.org/officeDocument/2006/relationships/image" Target="/ppt/media/image5.png" Id="R5a11e15e439f4c91" /><Relationship Type="http://schemas.openxmlformats.org/officeDocument/2006/relationships/notesSlide" Target="/ppt/notesSlides/notesSlide20.xml" Id="R28feee11832e46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e5e7ca0a34eac" /><Relationship Type="http://schemas.openxmlformats.org/officeDocument/2006/relationships/image" Target="/ppt/media/image6.png" Id="R3c9e7b32c55a4031" /><Relationship Type="http://schemas.openxmlformats.org/officeDocument/2006/relationships/notesSlide" Target="/ppt/notesSlides/notesSlide21.xml" Id="R0cd62762133948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95078e5fc40c6" /><Relationship Type="http://schemas.openxmlformats.org/officeDocument/2006/relationships/image" Target="/ppt/media/image7.png" Id="R086a8e43978d487d" /><Relationship Type="http://schemas.openxmlformats.org/officeDocument/2006/relationships/image" Target="/ppt/media/image8.png" Id="Rb94382b06bba461b" /><Relationship Type="http://schemas.openxmlformats.org/officeDocument/2006/relationships/notesSlide" Target="/ppt/notesSlides/notesSlide22.xml" Id="R55422ce1d9b145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f3fd3171f4587" /><Relationship Type="http://schemas.openxmlformats.org/officeDocument/2006/relationships/image" Target="/ppt/media/image9.png" Id="Rd5b6176e9ed04b74" /><Relationship Type="http://schemas.openxmlformats.org/officeDocument/2006/relationships/notesSlide" Target="/ppt/notesSlides/notesSlide23.xml" Id="Rc54f071663f04b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cc0d0123c4ec0" /><Relationship Type="http://schemas.openxmlformats.org/officeDocument/2006/relationships/notesSlide" Target="/ppt/notesSlides/notesSlide24.xml" Id="R4fc17c5c61574e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c9c652de74dd6" /><Relationship Type="http://schemas.openxmlformats.org/officeDocument/2006/relationships/notesSlide" Target="/ppt/notesSlides/notesSlide25.xml" Id="R735d6237800d49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78fa41f464b18" /><Relationship Type="http://schemas.openxmlformats.org/officeDocument/2006/relationships/notesSlide" Target="/ppt/notesSlides/notesSlide26.xml" Id="Raad8413378374f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f4f2848c04bc8" /><Relationship Type="http://schemas.openxmlformats.org/officeDocument/2006/relationships/notesSlide" Target="/ppt/notesSlides/notesSlide27.xml" Id="Rc985404099ac46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e1b8c48234fa6" /><Relationship Type="http://schemas.openxmlformats.org/officeDocument/2006/relationships/notesSlide" Target="/ppt/notesSlides/notesSlide28.xml" Id="Rcc96f87812244a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2d5c7a04246d2" /><Relationship Type="http://schemas.openxmlformats.org/officeDocument/2006/relationships/notesSlide" Target="/ppt/notesSlides/notesSlide29.xml" Id="R8afd731ef66d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033A3-3CAE-4CB2-A178-B820D4D3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BIG DATA ANALYTICS  |  FINAL PROJECT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8BE85-9B9C-4CD5-9BD1-37C1805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15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FedHome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C5CA1-7D35-4918-BC0D-DC445BCE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Privacy-Preserving Federated Anomaly Detection in Non-IID Smart Home IoT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77F88-8CBD-4854-9A76-B62E10FE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Final ensemble AUC: 0.993082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63223-85F3-40A7-9B24-47C2445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Md. Raihan Sobhan</a:t>
            </a:r>
          </a:p>
          <a:p xmlns:a="http://schemas.openxmlformats.org/drawingml/2006/main">
            <a:pPr algn="r">
              <a:def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Big Data Analytics</a:t>
            </a:r>
          </a:p>
          <a:p xmlns:a="http://schemas.openxmlformats.org/drawingml/2006/main">
            <a:pPr algn="r">
              <a:def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78DC2-F95D-4066-B7D6-D7CBD79D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45B2C-AA73-4B8F-AEFE-4D5619D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CDEE6-6205-4170-BC75-98EF4155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958A-566E-4ADB-8C41-1D33B51C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0B6D0-37C0-4163-882E-CEA22EDD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83D9B-D167-4CAB-9ABC-ACFF2F18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01</a:t>
            </a:r>
          </a:p>
        </p:txBody>
      </p:sp>
    </p:spTree>
    <p:extLst>
      <p:ext uri="{BB962C8B-B14F-4D97-AF65-F5344CB8AC3E}">
        <p14:creationId xmlns:p14="http://schemas.microsoft.com/office/powerpoint/2010/main" val="16209917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FB57C-DD13-43F9-B465-7E5CE4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FF52-DAF3-4415-AD83-81891BE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Comprehensive presentation covering all phases and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7B599-E68F-4036-9E0B-F1FEB8D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8E0FA-8D08-4DFB-A0ED-DC335B7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7A379-B8F1-42DF-9D1F-0D17A0E5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893CF-C314-43EE-AE9C-DA084F5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25DFF-687D-433C-86F6-59DC5BC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90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4B4E1-346D-4BE9-98BB-6232F8CE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90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Problem &amp; Motivation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44114-76A0-43F9-90E4-4DD4F27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9DB39-A653-475B-B854-964D5FA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D52D8-2F79-4336-9979-7D2E40FF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FedMSE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ED525-FAB6-4705-9B80-12E3C330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BF947-3F25-45A8-AE29-E2BBBDD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30881-87C3-4E14-BC13-A2CB5EA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FedHome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112DF-E144-466B-B1C5-F937E54A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98952-38D1-404B-B00F-BA2B6C1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2BECC-5D5F-45D5-A022-A66C5E5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Implementation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9020F-817C-4B5A-AA82-0B6D039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AB28D-7981-4B2C-A696-8D4EC73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90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686A8-0B20-48F3-92EF-A745384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909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Experimental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21115-8B7C-4AA3-B1A4-CE969D0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62375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A6DDD-166B-4AF5-A225-054101F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90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3C55B-2AD1-480A-898A-2ACC9E9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909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Analysis &amp; Figures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50B5D-69E5-442B-A272-3DA70F9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6E8F4-3A34-4877-9AA2-89F0F0AF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15F31-ACCF-4CD2-89AB-BF085B54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91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586673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F3316-C823-4099-9CC5-AFEAA481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3FCB2-C704-40EF-9E1E-A8677833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Key findings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3DAAB-C4A5-4486-A11D-FEE8C8B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635F9-1D7C-4CDD-B80C-B87B0780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73F6A-4A6E-4690-AA1D-C4690D0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A0021-DDAA-4A78-B58C-3435AD1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1FD18-CD2F-42E3-AF46-421B9B3A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0.993082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D9D3C-D15E-4533-A468-2011ACD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Ensemble 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501D3-0F78-46D4-9B78-16E52E37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final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95302-4126-4249-9840-6CF9AA4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A5ECF-DA73-4C83-B644-CC42DB1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24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0.970844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8B707-62E4-4427-BF62-804E54E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FedMSE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42424-385D-409E-A275-39275BA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956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comparison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A5990-02B5-4297-97C3-6C38B18F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2E0C8-FFEC-46DD-AC98-4E6853C0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+0.022238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961FF-22EA-484C-93E7-EE3AB629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Absolute Gain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E7A11-0E09-42F1-AAE8-3308615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improvement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DB262-BAE4-404C-90E3-8245181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456D7-840F-4FFD-B9C3-729DEF42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74520"/>
            <a:ext cx="10134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CE9BD-71B4-4BA9-9441-C751152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426970"/>
            <a:ext cx="10134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Gateways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545D1-34A3-46F2-A854-8F9DAAD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846070"/>
            <a:ext cx="10134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clients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3D760-9465-43BB-8151-4F642D2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7B86E-9C7E-45FB-9815-A8AC9DA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385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19 &amp; 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AD60B-ABE3-4D76-9B86-5149F4C4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910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Sizes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67E16-1149-4DD5-9CAE-7B4E58C8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101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C=2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D189C-28A4-4492-B36E-D2F9C74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24BCF-9CAF-4803-A74B-58D54D0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0.3967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D03A1-54AD-4D49-ACB8-61E04FAB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Silhouette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81CBA-D299-47E9-AB56-92C94D5B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clustering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A8A8A-E93A-4B97-9644-8E2F822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29391-EEC8-47E9-AF27-93E3B8F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2.9 min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08A22-8130-4BA5-9EDA-1A2EAFD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Baseline 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03562-4394-4071-B374-026044C1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total training</a:t>
            </a:r>
          </a:p>
        </p:txBody>
      </p:sp>
    </p:spTree>
    <p:extLst>
      <p:ext uri="{BB962C8B-B14F-4D97-AF65-F5344CB8AC3E}">
        <p14:creationId xmlns:p14="http://schemas.microsoft.com/office/powerpoint/2010/main" val="1151635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601FA-E8F0-4670-AAC4-D6EB2AE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48C2-8338-4C30-AC2A-46A9E79C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2862-21D4-48CD-8EF7-2CB1814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F35A6-0170-4F42-B993-39EB716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Problem Statement &amp;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7A5B6-A55C-4418-BEF7-F282930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235D-7976-49B7-9931-BA4D21AB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8A286-38F0-44E8-99EC-77774900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DF158-C743-427E-B160-4E36F80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10F67-1E89-43E1-8AD7-17E043C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5306E-DAAE-4347-98B5-D3C6985D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04</a:t>
            </a:r>
          </a:p>
        </p:txBody>
      </p:sp>
    </p:spTree>
    <p:extLst>
      <p:ext uri="{BB962C8B-B14F-4D97-AF65-F5344CB8AC3E}">
        <p14:creationId xmlns:p14="http://schemas.microsoft.com/office/powerpoint/2010/main" val="2529874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D18DC-D874-4638-B9DC-740FACB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4B6AB-EFEF-4A48-99C1-FF26BBB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IoT botnet detection is critical but privacy-sensitive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3A373-0762-4C64-BD5A-ED8FE10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79A39-23E8-4694-BFA6-C38F2DC8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6EB7E-5CCE-401A-9AAE-BC40C846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087CA-BA90-4DC3-8DF0-9CDD0EB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2AF34-7B97-414A-B419-F65D85C5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Detect anomalous IoT traffic while preserving household privacy and handling extreme client heterogeneity.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94C34-4E1D-4652-AE8D-C16ECF8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0ED1C-4607-4A25-92DF-E8B69992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6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14AF1-D4FC-4BC4-9889-48783E0C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Privacy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DAE4E-EBA0-480E-91A3-2C729A0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Raw traffic exposes routines  →  No centralization allowed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107D8-D77F-4098-A595-A54E450D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21D66-073C-4829-9E11-D8F9299D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6FE40-991B-465A-B3F2-BA129C2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Heterogeneity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0BFC3-DDF8-40F3-9F58-36FFC51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50 gateways, different mixes  →  Camera vs Thermostat heavy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AF53B-89FD-4475-8B55-1317716C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CE04F-075D-4798-8440-80973073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1EBC1-E036-4D27-8256-189E800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846D6-38DD-4808-8034-33F4FD8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Thousands of homes possible  →  Distributed processing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51616-E53D-4338-A627-F6DEE6F8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D782C-0108-4357-B0E4-76A23AE8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92CEB-606D-43B8-8BC7-4E7B125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Attacks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B825B-A59B-4833-8056-D586A3C2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Mirai &amp; Gafgyt botnets  →  One-class detection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3B361-44EE-4B17-A6D0-2C779CB2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647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08ABA-983A-4EEB-922B-41604FEC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rPr>
              <a:t>21.9B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863DE-DE48-42FC-BADB-FEE9088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connected IoT devices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32AD4-F3CE-4A21-994B-A7F0D34E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rPr>
              <a:t>83%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90551-CC61-466A-8FCA-6B1E8DE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routers with vulnerabilities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9E49D-32AF-47CF-9B79-3455216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F29E4C"/>
                </a:solidFill>
                <a:latin typeface="Helvetica"/>
                <a:ea typeface="Helvetica"/>
                <a:cs typeface="Helvetica"/>
              </a:rPr>
              <a:t>~1M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911A0-9F38-414D-9537-B25A092B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compromised devices in botnets</a:t>
            </a:r>
          </a:p>
        </p:txBody>
      </p:sp>
    </p:spTree>
    <p:extLst>
      <p:ext uri="{BB962C8B-B14F-4D97-AF65-F5344CB8AC3E}">
        <p14:creationId xmlns:p14="http://schemas.microsoft.com/office/powerpoint/2010/main" val="20511253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6FAF2-6858-4C5F-910C-C4EA6DA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NON-IID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786CD-FEE6-4F15-83D9-C900AB2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Different gateways have fundamentally different traffic distributions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E3B55-5E92-4EED-9492-E4CEDE64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A79B1-5BC1-4C4E-AA57-25C28C44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778E6-AF49-4120-8BF3-1A0DAAB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0FA21-422F-4654-A08A-B0BD4CB4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8F730-5896-41B3-BC17-B25FB572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7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Camera-heavy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11C1E-AF1A-4912-A9B3-E4D743C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High-volume streams</a:t>
            </a:r>
          </a:p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Video-heavy features</a:t>
            </a:r>
          </a:p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Frequent burst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DF45C-7E03-4D03-A19D-5C7687B6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75158-F08F-48E7-99CA-8CEAD44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7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Thermostat-heavy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F7DD2-C726-4374-B935-1F2B9817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241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Periodic telemetry</a:t>
            </a:r>
          </a:p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Lower bandwidth</a:t>
            </a:r>
          </a:p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✓ Different normal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AC51B-4183-48AE-A1B6-B5575F32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2667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4910B-8318-41F3-8B67-49C966E2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Core 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2ED9E-F34A-4FB0-BC9D-945D1B5F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047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A single global model averaged over these diverse clients will compromise on both, fitting neither well.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AA66A-E87A-405A-B8E2-929A6B6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FedHome's hypothesis: Can we cluster clients by device type before federation to improve results?</a:t>
            </a:r>
          </a:p>
        </p:txBody>
      </p:sp>
    </p:spTree>
    <p:extLst>
      <p:ext uri="{BB962C8B-B14F-4D97-AF65-F5344CB8AC3E}">
        <p14:creationId xmlns:p14="http://schemas.microsoft.com/office/powerpoint/2010/main" val="1847160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2EA82-731A-4D83-8C36-5BA75EC6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804F6-8DBD-41C3-8D69-FC5A09E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3B88E-760B-4E8C-96C2-870A49BB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BD310-EB7B-443B-B09E-F53F9D8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FedHome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A9E88-8F63-4B00-B7E9-4CCAACE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Cluster-aware federation for heterogeneous IoT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6D7E3-A2DC-41A1-B646-F47AC40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60DD3-7A9E-4566-A5BF-AF0E4DB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7932F-A706-4C11-B61D-26AB266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2EC66-DEB0-4B40-822D-DB67DC6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5D5E1-2CAF-434E-A921-149CF39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928D9-3037-4103-AB12-5C88E51D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07</a:t>
            </a:r>
          </a:p>
        </p:txBody>
      </p:sp>
    </p:spTree>
    <p:extLst>
      <p:ext uri="{BB962C8B-B14F-4D97-AF65-F5344CB8AC3E}">
        <p14:creationId xmlns:p14="http://schemas.microsoft.com/office/powerpoint/2010/main" val="3222658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26013-4E3C-483B-8184-7FFC37FB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57195-B59A-4202-A8CB-8E6F6B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Four-phase pipeline: profile → cluster → train →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94B91-5BE5-4DF3-ADB0-AD8197C5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30DB6-8487-4E92-85B8-49F8C75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D317-9462-49AF-B85D-29CDD90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EB28E-C778-4D5E-8A3A-138AA16E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1CE59-180F-4199-8224-587F2E6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ED6F7-88C4-4391-8350-60E498A5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05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6B226-6CB8-4B20-9B2D-0B4E981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9545B-067C-4C54-90C5-F34DE6D4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Extract device-type</a:t>
            </a:r>
          </a:p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proportions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1BA6B-25B0-469F-975B-9ABD1E8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E1BE8-11B0-47EB-8875-98C169EB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6D347-1089-48E8-8521-7610AF0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752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4874A-9628-45F7-9935-51A3513F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05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0A0F-BEAF-4C41-AF92-1F044DED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908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Cluster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9564F-AF9E-4658-A663-1B8C2232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Group gateways by</a:t>
            </a:r>
          </a:p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JS-divergence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7FBA1-37C1-4212-B26E-D1B20466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E40A9-FD7B-4F77-B4A8-1366073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32C96-D93F-48F7-9017-7CBB164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52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0CE41-A8FA-4E13-B114-6A2D8D16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05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B6BCA-90C2-4B17-A86C-24E4FC02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7FAEE-CA83-420F-9F0B-967FBE03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Run FedMSE</a:t>
            </a:r>
          </a:p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per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6556F-06F6-4855-86A1-52B772EF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F8341-5356-49C8-BB30-844B3933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33F81-BFE9-456E-B958-6369508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52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60B65-8B1D-4A29-AE0E-9CB9FE7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05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C141E-4319-4867-BC6F-48450F3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908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Merge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DBFA9-7EE0-448F-AB46-76410A7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9562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Weighted ensemble</a:t>
            </a:r>
          </a:p>
          <a:p xmlns:a="http://schemas.openxmlformats.org/drawingml/2006/main">
            <a:pPr algn="ctr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of models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1B0CE-9347-49C1-BCC6-51174D8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21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8E7A2-E3D4-48C1-A1EC-0539F30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577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Output: One deployable model that preserves specialization while keeping raw traffic local</a:t>
            </a:r>
          </a:p>
        </p:txBody>
      </p:sp>
    </p:spTree>
    <p:extLst>
      <p:ext uri="{BB962C8B-B14F-4D97-AF65-F5344CB8AC3E}">
        <p14:creationId xmlns:p14="http://schemas.microsoft.com/office/powerpoint/2010/main" val="677859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9AD15-EE66-481D-A9F1-88C9AFC5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EC50D-AE19-444A-96F6-9DA087BD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FD21C-5700-46FE-8622-D96B0201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D267-AACB-4D54-AA09-66DFB777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FedMSE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A0225-9B03-4656-A6D4-B5BDF251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Strong reference point for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185BE-E8EC-473A-AE73-AE2DFC7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AEC42-6A43-4675-A18D-7A6D675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A1463-C9C0-487C-9BEA-11BBF6D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0BBD1-4390-403A-B362-493E9B52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1ABE5-A26A-4375-8ECB-CF1A4751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57A58-DC2A-405A-BA17-A99D995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09</a:t>
            </a:r>
          </a:p>
        </p:txBody>
      </p:sp>
    </p:spTree>
    <p:extLst>
      <p:ext uri="{BB962C8B-B14F-4D97-AF65-F5344CB8AC3E}">
        <p14:creationId xmlns:p14="http://schemas.microsoft.com/office/powerpoint/2010/main" val="18132054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5668C-2FCA-4F5D-8D63-66E3D367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BASELINE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E799-AB7C-426B-84FE-A16C3F86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FedMSE: SAE-CEN + MSEAvg for robust Non-IID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24A36-3DA4-4479-89C5-019E7C8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B6D9B-D756-4800-A86E-ABDEDA8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7F565-37EF-4CA2-906E-EA76CD9C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9EE4-D6D6-47A2-85BC-710B408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CAB31-9082-4AA5-ABD1-F70549F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9941A-21A4-45A3-9C46-107DDB5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193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CDF6F-9BA1-4CD1-A7D9-741F39FD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14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SAE-CEN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1C0FA-1019-4BAA-80F8-E6710C5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Shrink Autoencoder for one-class anomaly detection + latent-space centroid detector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BBB65-E315-4572-AB9B-C99B04F2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95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Arc: 115 → 50 → 11 → 50 → 115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AB368-9A06-4DB0-871D-3D6E43D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025CD-5A47-479E-808B-0055D5C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7AC0A-6ABF-4831-B43D-ABDBBE0C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193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DE817-9DBA-4A17-8178-EFC3F56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14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MSEAvg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6E568-5860-4C5A-8C3F-97F8A2D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Quality-aware aggregation: weight clients by reconstruction error, not data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2DC8C-185D-4A0B-B8AF-EA902F1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Robust to Non-IID client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02220-A49C-464C-92CF-B62AB995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8F"/>
          </a:solidFill>
          <a:ln xmlns:a="http://schemas.openxmlformats.org/drawingml/2006/main" w="9525">
            <a:solidFill>
              <a:srgbClr val="0B6E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A8F38-2B7C-4D4A-8E96-99CB159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Baseline performance: AUC 0.970844 on 50-client Non-IID N-BaIoT scenario (20 rounds, 100 epochs)</a:t>
            </a:r>
          </a:p>
        </p:txBody>
      </p:sp>
    </p:spTree>
    <p:extLst>
      <p:ext uri="{BB962C8B-B14F-4D97-AF65-F5344CB8AC3E}">
        <p14:creationId xmlns:p14="http://schemas.microsoft.com/office/powerpoint/2010/main" val="953393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56AEB-4494-4A8B-B826-0413B0D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58D2C-3D7B-471E-AE5A-BA1F9C29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89802-09D4-4176-9BC4-D330DA2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B4726-481D-48F5-B293-A1FE8B5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Implementation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89CA1-14CB-4F8C-BE23-BF9B6EE0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Detailed phases from data to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F4730-5F60-4529-9E66-F9D9E8AA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24B17-B487-4937-98A7-39CCD7C5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507EB-0305-4F89-833B-63E9230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E1A95-08ED-4849-9738-90165F2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47FA8-D4BD-4988-A51C-6F094AC4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8699A-A559-43DC-A79A-055DF26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11</a:t>
            </a:r>
          </a:p>
        </p:txBody>
      </p:sp>
    </p:spTree>
    <p:extLst>
      <p:ext uri="{BB962C8B-B14F-4D97-AF65-F5344CB8AC3E}">
        <p14:creationId xmlns:p14="http://schemas.microsoft.com/office/powerpoint/2010/main" val="18774828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050A8-F9CA-456C-84B8-7E62782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PHASE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6968A-CF5C-40AC-A026-98E616C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Spark-based data pipeline generates 50×9 profile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23791-E52C-4A15-B351-B6A5396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BF926-9D73-48CB-ABE7-F82B6D0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DB54F-4712-4D92-AB54-2BFBE309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251DA-C47E-4591-A76A-D86CBC0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86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D0F0E-937C-492F-8AEF-9F6FC8A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Spark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5E340-57CA-45F9-BC45-FC7FCF4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Load N-BaIoT CSVs into Spark DataFrames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Compute per-gateway traffic statistics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Normalize to 50 × 9 device-type matrix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Export for downstream clustering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B90F8-07CC-4580-8935-D23B91C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86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3CC87-786A-4083-96E5-B549693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2125F-8679-4CD3-A094-8E3B35E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136,565 rows across 50 gateways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50 × 9 normalized profile 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Exported as CSV/JSON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22990-7FC8-434A-9CA5-E6F132BA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62FEF-BC89-481B-B916-CF88633E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Distributed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4076D-2567-4931-8D75-F73630E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Spark 17.03s → scales to multi-node.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Pandas 1.12s → faster locally.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But architecture matters: Spark is production-ready.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AE2B2-A1F0-40E5-878B-76434201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7D2A3-5778-44BE-A540-B4865890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136K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CED08-CE1E-4744-A010-431B4AC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07075-5EAE-4259-A0D7-51234142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11F0-59C6-4725-A7F8-33067EE3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8CE8F-A68C-4A8A-A45D-2ECB73F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gateways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36040-5F9F-4BD4-8254-31051BF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CAC87-C00A-434B-98CB-1CB846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50×9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D3DA9-BC62-44DA-B1FE-2532262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profiles</a:t>
            </a:r>
          </a:p>
        </p:txBody>
      </p:sp>
    </p:spTree>
    <p:extLst>
      <p:ext uri="{BB962C8B-B14F-4D97-AF65-F5344CB8AC3E}">
        <p14:creationId xmlns:p14="http://schemas.microsoft.com/office/powerpoint/2010/main" val="17593754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FC380-792B-4B6A-B8BD-7EA18487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PHASE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A0B2A-D611-47B5-8EDF-75D1BE89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Clustering: JS-divergence + Ward hierarchical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8D751-0678-4774-B0F2-E69E350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4923F-B236-442A-8999-0381E94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CBFD6-2646-4F5A-999B-3CFBFF2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9CF20-5E31-4981-94CC-4B188BE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D08D-4112-4D81-AC98-6C1986DE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Clustering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51827-C304-48B8-9C8E-1333EDF6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7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Pairwise Jensen-Shannon distances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Ward hierarchical clustering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Spark Bisecting K-Means agreement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Select C = 2 clusters (19, 31 size)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A89C2-6F01-4E22-8FE2-AFB39B5A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4A8A7-BA85-4C72-9DAC-5AB681D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6C7C4-AFF1-4B49-91B0-23E3AF1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Silhouette: 0.3967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Ward vs BKM ARI: 0.6998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Interpretable separation (not perfect)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68BDF-18A7-489B-8BA2-FA7FB8C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762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847AB-20D6-4CE3-81C0-348C40C0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4B16D-9F45-4D3D-B0C4-7533AA5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JS divergence is privacy-safe: only works with aggregated statistics, never raw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62BFB-F3E7-463E-AF3B-7998F13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BD1A5-8B82-4135-A19D-9FAEE7C2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C=2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0B51A-E57D-4F0E-A329-A9941B4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D0037-3F39-4408-BD71-349425A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8C4C4-D2A7-4DBA-9AAE-F27B1BC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3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19+31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6539-CB05-484C-880D-33A2051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3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BF071-D1BE-4DA2-B629-2F6F23C7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D52F7-9D97-44B0-A4AE-74B7F994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730" y="5193030"/>
            <a:ext cx="115824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0.39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82722-3B28-4CA3-B8A9-15294048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730" y="5569458"/>
            <a:ext cx="11582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silhouette</a:t>
            </a:r>
          </a:p>
        </p:txBody>
      </p:sp>
    </p:spTree>
    <p:extLst>
      <p:ext uri="{BB962C8B-B14F-4D97-AF65-F5344CB8AC3E}">
        <p14:creationId xmlns:p14="http://schemas.microsoft.com/office/powerpoint/2010/main" val="19353894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67C33-8CFE-4B0F-AC93-F43BF03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PHASE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D71E5-889B-4782-9D30-48B15C8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Cluster-aware federated training: FedMSE per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49A1B-F311-450D-91AA-000AD23C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C9BA0-6B32-401E-AAA6-923AB433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4815A-E8A8-4AD3-B00A-3D270663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DDBB0-B450-443A-B3BB-28CC5D52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C0A87-92A4-43CD-AE6F-6479F22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1 Training (19 clients)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3FD24-CB3B-4E55-AB97-49F8AAEF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81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FedMSE with SAE-CEN + MSEAvg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- 20 global rounds, 100 local epochs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- 50% client selection per round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Average AUC: 0.987283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B034A-EF69-4266-8B71-39217A97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DFD71-82C7-41F7-A889-82AF6AC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2 Training (31 clients)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614B9-6E05-41D5-8A04-5AD966A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Identical FedMSE configuration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Same 20 rounds, 100 epochs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Deterministic split manifest reused</a:t>
            </a:r>
          </a:p>
          <a:p xmlns:a="http://schemas.openxmlformats.org/drawingml/2006/main">
            <a:pPr algn="l">
              <a:def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- Average AUC: 0.967393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78EA0-D0B2-4866-8DE5-BDE058C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34532-FA90-4951-A6A1-99D570FC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17716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0.987283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A117B-8E8C-4F28-993B-72F90EF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56910"/>
            <a:ext cx="177165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1 AUC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4788F-7CE5-4446-94C6-3D4C0F2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FBABA-FC2D-4B92-90B4-647C4BF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53050"/>
            <a:ext cx="17716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0.967393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3ACA5-2B71-4E86-8A8E-1D0918C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56910"/>
            <a:ext cx="177165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2 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9767D-E962-4395-BD61-B23FBA4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BA147-8716-404A-A99D-78BC460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53050"/>
            <a:ext cx="17716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120.5s+122s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B1749-E5A7-4B37-BFCF-1DA9E57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56910"/>
            <a:ext cx="177165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Total train</a:t>
            </a:r>
          </a:p>
        </p:txBody>
      </p:sp>
    </p:spTree>
    <p:extLst>
      <p:ext uri="{BB962C8B-B14F-4D97-AF65-F5344CB8AC3E}">
        <p14:creationId xmlns:p14="http://schemas.microsoft.com/office/powerpoint/2010/main" val="1162494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86070-682C-4BD0-8692-2D1FA31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PHASE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D1293-B22E-463A-BF82-35DDBC6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Ensemble merge: weighted parameter averaging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5ABD7-065F-4F2F-8819-69C2D73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E8B34-5831-4FA2-97E9-22B38BA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07504-1760-45F2-8FB5-34B98E64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81EB7-1129-442C-80A8-8F8D8A6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Merge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D5CAC-3105-4A73-B0F0-75FD3835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47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C6A54-2E2B-4290-813D-840DFEF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W_global = (19/50) × W_cluster1 + (31/50) × W_cluster2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68AC9-A2B4-4BAA-ABB7-797C8A3E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Rationale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4E598-9B67-4E6B-9CE0-D4D9B7B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62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0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weights respect original client mass while preserving each cluster's learned specialization. Neither cluster dominates; both perspectives inform the final global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4AF18-EA4A-4C37-9F68-4092F70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0D3FB-015B-4403-83A2-2C3AD0F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81550"/>
            <a:ext cx="26289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0.993082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F2306-9538-4E69-9416-05F40F3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22570"/>
            <a:ext cx="262890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Ensemble 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41B27-0D83-4658-B516-7664D35C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2071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final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B9440-8080-4C92-B04A-99D28910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A7288-F4EA-407B-AE15-463233E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26289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+0.022238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B5719-5CA8-4075-B7C8-F1A9CE2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22570"/>
            <a:ext cx="262890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Improvement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298BE-A21F-476F-A893-1A5301E0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2071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vs baseline</a:t>
            </a:r>
          </a:p>
        </p:txBody>
      </p:sp>
    </p:spTree>
    <p:extLst>
      <p:ext uri="{BB962C8B-B14F-4D97-AF65-F5344CB8AC3E}">
        <p14:creationId xmlns:p14="http://schemas.microsoft.com/office/powerpoint/2010/main" val="1478517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98D92-8422-421A-89E3-8C82702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5F7E3-B0D0-4DBF-B367-4C901D9B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100D4-1421-49AD-8A25-F32A2741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64C4E-A5A8-4CAB-8DA1-E82F86E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Experimental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F060-75B6-4CE7-9FB4-0AF3B12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Comprehensive outcome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9FA39-DB48-4E94-983C-83889CB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521D3-0E35-4E1E-92F2-BD438680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FB51B-5243-4AF2-98F4-6684BDF4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93E4A-15B2-4002-BA56-B157C9F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C3FAA-5F92-4F3A-9EFB-BF3B587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16AA5-F4B7-455C-BD57-9495AAA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16</a:t>
            </a:r>
          </a:p>
        </p:txBody>
      </p:sp>
    </p:spTree>
    <p:extLst>
      <p:ext uri="{BB962C8B-B14F-4D97-AF65-F5344CB8AC3E}">
        <p14:creationId xmlns:p14="http://schemas.microsoft.com/office/powerpoint/2010/main" val="10107013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09D70-EDCA-43F7-9B17-B32CCE54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3344-13A4-414E-81A4-B4739811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Complete outcome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C7BAF-8EE1-4DBA-996A-6FBC605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03ECE-51FE-45BB-86A0-DA3BA600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B19A3-842E-44DA-B1B5-F080B303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24000"/>
                <a:gridCol w="1524000"/>
                <a:gridCol w="1238250"/>
                <a:gridCol w="3429000"/>
              </a:tblGrid>
              <a:tr h="571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Avg AUC</a:t>
                      </a:r>
                    </a:p>
                  </a:txBody>
                  <a:tcPr marL="91440" marR="91440" marT="45720" marB="45720"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Final Loss</a:t>
                      </a:r>
                    </a:p>
                  </a:txBody>
                  <a:tcPr marL="91440" marR="91440" marT="45720" marB="45720"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Clients</a:t>
                      </a:r>
                    </a:p>
                  </a:txBody>
                  <a:tcPr marL="91440" marR="91440" marT="45720" marB="45720">
                    <a:solidFill>
                      <a:srgbClr val="18B7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91440" marR="91440" marT="45720" marB="45720">
                    <a:solidFill>
                      <a:srgbClr val="18B7B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FedMSE Baseline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0.970844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0.8030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Single global model reference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Cluster 1 (Phase 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0.987283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0.8156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Device-uniform subgroup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Cluster 2 (Phase 4)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0.967393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0.8622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Device-heterogeneous subgroup</a:t>
                      </a:r>
                    </a:p>
                  </a:txBody>
                  <a:tcPr marL="91440" marR="91440" marT="45720" marB="45720">
                    <a:solidFill>
                      <a:srgbClr val="EE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FedHome Ensemble (Phase 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0.993082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N/A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263041"/>
                          </a:solidFill>
                        </a:rPr>
                        <a:t>Weighted merge: best 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2CF12-BB2E-406C-BEF5-AA17041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Key insight: Neither cluster alone beats baseline, but their weighted merge surpasses it—demonstrating synergistic benefit of specialization + ensemble.</a:t>
            </a:r>
          </a:p>
        </p:txBody>
      </p:sp>
    </p:spTree>
    <p:extLst>
      <p:ext uri="{BB962C8B-B14F-4D97-AF65-F5344CB8AC3E}">
        <p14:creationId xmlns:p14="http://schemas.microsoft.com/office/powerpoint/2010/main" val="7060154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822E6-DF6D-43D5-8CF9-092F80C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CONVERGENCE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6D7C8-232B-4A92-AB60-2BEF694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AUC improvement over 20 training rounds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189D0-EB2D-42CC-82CB-9D4C02B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65E29-0EE6-4BE4-8AE3-89096F8E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C643B-69BD-4ED4-9163-821EFFB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f3a3a4a9a481a"/>
          <a:stretch xmlns:a="http://schemas.openxmlformats.org/drawingml/2006/main"/>
        </p:blipFill>
        <p:spPr>
          <a:xfrm xmlns:a="http://schemas.openxmlformats.org/drawingml/2006/main">
            <a:off x="762000" y="1716464"/>
            <a:ext cx="10477500" cy="39965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3D504-67A6-4189-807E-5527E32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Both clusters show stable convergence. Cluster 1 (19 clients) reaches ~0.987 plateau; Cluster 2 (31 clients) plateaus at ~0.967, reflecting underlying difficulty differences.</a:t>
            </a:r>
          </a:p>
        </p:txBody>
      </p:sp>
    </p:spTree>
    <p:extLst>
      <p:ext uri="{BB962C8B-B14F-4D97-AF65-F5344CB8AC3E}">
        <p14:creationId xmlns:p14="http://schemas.microsoft.com/office/powerpoint/2010/main" val="1918444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9D28C-614B-4A54-AC1C-6890C44C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CLUSTERING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AA62A-3C4C-4335-89BC-075DEE0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Ward dendrogram and JS-distance heatmap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92D31-082F-437C-B1F6-C446A36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FF1C0-CD91-407C-8788-B8E06C3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E1D9D-3533-4076-A435-E50C911F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19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0efc8b0de4061"/>
          <a:stretch xmlns:a="http://schemas.openxmlformats.org/drawingml/2006/main"/>
        </p:blipFill>
        <p:spPr>
          <a:xfrm xmlns:a="http://schemas.openxmlformats.org/drawingml/2006/main">
            <a:off x="476250" y="2161384"/>
            <a:ext cx="5524500" cy="2344731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f805096a24ae5"/>
          <a:stretch xmlns:a="http://schemas.openxmlformats.org/drawingml/2006/main"/>
        </p:blipFill>
        <p:spPr>
          <a:xfrm xmlns:a="http://schemas.openxmlformats.org/drawingml/2006/main">
            <a:off x="7018116" y="1524000"/>
            <a:ext cx="4251767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529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441A3-5992-439B-A166-BF282AB4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DISTRIBUTION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41BD7-8ADD-4965-8356-91F8DC2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Histogram and per-client AUC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2B265-515C-4129-80E6-C67A9CB3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FB066-7B49-4508-88F1-26D40460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81B63-0615-46D1-A270-6F45983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a779a543c488b"/>
          <a:stretch xmlns:a="http://schemas.openxmlformats.org/drawingml/2006/main"/>
        </p:blipFill>
        <p:spPr>
          <a:xfrm xmlns:a="http://schemas.openxmlformats.org/drawingml/2006/main">
            <a:off x="476250" y="1771459"/>
            <a:ext cx="5429250" cy="3124583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1e15e439f4c91"/>
          <a:stretch xmlns:a="http://schemas.openxmlformats.org/drawingml/2006/main"/>
        </p:blipFill>
        <p:spPr>
          <a:xfrm xmlns:a="http://schemas.openxmlformats.org/drawingml/2006/main">
            <a:off x="6667500" y="2250310"/>
            <a:ext cx="4953000" cy="21668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9186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6207C-72DA-412B-B007-300A37D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PER-CLIENT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EAC6B-E062-4CB1-A84D-E60C303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Individual gateway AUC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871DC-6160-4DF4-8B4A-76D6185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3BFF8-01E1-41FA-8297-0B31919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4C672-0BE6-4647-BA0F-D930D5C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e7b32c55a4031"/>
          <a:stretch xmlns:a="http://schemas.openxmlformats.org/drawingml/2006/main"/>
        </p:blipFill>
        <p:spPr>
          <a:xfrm xmlns:a="http://schemas.openxmlformats.org/drawingml/2006/main">
            <a:off x="3049979" y="1524000"/>
            <a:ext cx="6092042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30C1D-90C7-4FEA-B527-2B48D70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Heatmap shows per-client improvements. Ensemble benefits all gateways while respecting cluster specialization.</a:t>
            </a:r>
          </a:p>
        </p:txBody>
      </p:sp>
    </p:spTree>
    <p:extLst>
      <p:ext uri="{BB962C8B-B14F-4D97-AF65-F5344CB8AC3E}">
        <p14:creationId xmlns:p14="http://schemas.microsoft.com/office/powerpoint/2010/main" val="179172622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301D4-1FBF-407A-ADAA-D0154FDC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CLUSTER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7E47B-30AC-41E3-9142-B58C3F6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MDS projection and silhouette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FE8EE-E5C1-43F3-8E15-5B4E342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9FBF4-C310-4E46-9051-82C9524A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5A62E-131D-468B-B9C0-EC6D8E1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a8e43978d487d"/>
          <a:stretch xmlns:a="http://schemas.openxmlformats.org/drawingml/2006/main"/>
        </p:blipFill>
        <p:spPr>
          <a:xfrm xmlns:a="http://schemas.openxmlformats.org/drawingml/2006/main">
            <a:off x="814581" y="1524000"/>
            <a:ext cx="4847837" cy="3619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382b06bba461b"/>
          <a:stretch xmlns:a="http://schemas.openxmlformats.org/drawingml/2006/main"/>
        </p:blipFill>
        <p:spPr>
          <a:xfrm xmlns:a="http://schemas.openxmlformats.org/drawingml/2006/main">
            <a:off x="6667500" y="1799135"/>
            <a:ext cx="4953000" cy="30692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7768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D53F8-A974-44C9-BF1F-23782D8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EFFICIENCY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450A3-F0FA-4F8E-9381-8FBA3DA0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Training time per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37958-3CDC-41F7-B333-4C6ECE3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BEE4-F184-47EE-B70D-DC2A3085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2957-3B65-4CD0-A284-6A13EBFE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6176e9ed04b74"/>
          <a:stretch xmlns:a="http://schemas.openxmlformats.org/drawingml/2006/main"/>
        </p:blipFill>
        <p:spPr>
          <a:xfrm xmlns:a="http://schemas.openxmlformats.org/drawingml/2006/main">
            <a:off x="1460591" y="1524000"/>
            <a:ext cx="9080317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795A2-D822-426B-A759-708ABDF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64CC3-4B7F-4F84-9140-DE33EF97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34050"/>
            <a:ext cx="167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2.9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A8AC1-F346-45B9-A7C2-DD20E8E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0362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Baseline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CBD38-C495-485D-9CCD-86CF3DD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1560F-B34D-4525-9E95-FB23A4FE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67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120.5s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1ACA3-AE0F-4B83-B382-C38C665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0362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B6F89-6A49-421C-820E-1B304B2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B7D60-8756-4D39-86F4-2F25DBE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34050"/>
            <a:ext cx="167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122.1s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AE56A-E6C6-4870-B40A-FC553D7A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10362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316AE-5AE2-4DC3-8193-A4F28D3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0"/>
            <a:ext cx="95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B6EF1-C241-43BA-B56D-D3D0C09B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38800"/>
            <a:ext cx="723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10s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CC3FD-2F8E-45D3-9AF6-06189D9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0837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10628899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E1B2-577D-470E-B62B-3706F453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BBFA7-74EB-4E17-BAEE-3ABDACEF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55A3-D201-48AC-AE46-09298DE4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7FF06-EA10-4D08-856B-5A5FFD34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475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Conclusion &amp; 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91DD-F571-439C-A7B4-F851D92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320A5-3B39-4B2A-B161-2BA9343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047A3-8B3E-4D7B-A19D-F07B124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9C242-8C92-4653-BF48-7543F7D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5EA5F-984C-4B37-9F35-98AC964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4DA37-88F7-4135-A449-F3720C3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24</a:t>
            </a:r>
          </a:p>
        </p:txBody>
      </p:sp>
    </p:spTree>
    <p:extLst>
      <p:ext uri="{BB962C8B-B14F-4D97-AF65-F5344CB8AC3E}">
        <p14:creationId xmlns:p14="http://schemas.microsoft.com/office/powerpoint/2010/main" val="20747780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6700F-BB38-4DB8-9A91-912AFC3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20109-F5C0-443C-B83A-3BE87ED7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FedHome achieved the research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6D0A8-C8AE-4321-8D5A-3436E01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6DE0-6452-415B-9260-4814AD19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6D609-6BBA-495E-A378-46E7B7C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DC55-6E72-40E5-B7B9-5A4F86D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47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34"/>
          </a:solidFill>
          <a:ln xmlns:a="http://schemas.openxmlformats.org/drawingml/2006/main" w="9525">
            <a:solidFill>
              <a:srgbClr val="171C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5AC20-047A-400F-B4CC-3186A12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Main Finding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E66B3-A0F8-4FC8-891C-F00BEC51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Under a reproducible 50-gateway Non-IID evaluation, cluster-aware federation achieved 0.993082 average AUC, outperforming FedMSE baseline (0.970844) by +0.022238 points.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5002E-4940-48DF-82CD-29CBE965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3C3C6-1497-4DEF-B211-099A785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E5E7EB"/>
                </a:solidFill>
                <a:latin typeface="Helvetica"/>
                <a:ea typeface="Helvetica"/>
                <a:cs typeface="Helvetica"/>
              </a:rPr>
              <a:t>This demonstrates that accounting for client heterogeneity through device-type clustering improves privacy-preserving IoT anomaly detection under high Non-IID conditions.</a:t>
            </a:r>
          </a:p>
        </p:txBody>
      </p:sp>
    </p:spTree>
    <p:extLst>
      <p:ext uri="{BB962C8B-B14F-4D97-AF65-F5344CB8AC3E}">
        <p14:creationId xmlns:p14="http://schemas.microsoft.com/office/powerpoint/2010/main" val="83861143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14A86-3842-4E27-8A61-B31EA182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48D66-E36A-49B4-A9A4-F3F609F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Honest assessment of the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7F074-3F8C-4D3A-A197-4D350E9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CC033-2C8E-4BDA-BAAF-B59C52B7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447A0-1C26-4CA8-BCC4-B586D48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5DD0C-3AC0-4AE1-88C9-88F1F9E7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8A8F7-C87F-46C4-94EB-F39315D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9C447-75F1-4CB8-AFC6-5B456900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Profile Proxy Nature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1F65-A06C-4ADC-8DD2-A6E8AB7B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 proportions are traffic-archetype proxies, not row-level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AC637-3782-48F1-87B6-24D937F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BB9AA-3916-4FC2-8620-0F8DE7E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5C5E8-AFB8-41A5-8ED6-25404428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Silhouette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DE770-AB0E-430C-8E41-2D44DB39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0.3967 indicates useful but imperfect separation (aspiration: &gt;0.5)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2BE5F-6342-44A1-88EE-50F483F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893A0-43FE-4325-A1E2-FAE88A4A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B0568-107E-495F-96B9-4C65E321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Deterministic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2A8AB-F947-4598-9749-ECCFC13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Improvement measured against August 8 reproducible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E1D4B-7935-4A97-8962-2CA9DD1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4C"/>
          </a:solidFill>
          <a:ln xmlns:a="http://schemas.openxmlformats.org/drawingml/2006/main" w="9525">
            <a:solidFill>
              <a:srgbClr val="F29E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E5757-EC0F-429B-A635-E2B2B1B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30A8A-F092-4E6D-B915-89017FC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Feasibility, Not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F7FF1-9498-4DCC-B2CB-99DE8E8D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Demonstrates concept effectiveness; does not claim production maturity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25C2D-A1F8-4FC0-AB2B-23D74CC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These limitations are stated clearly; they do not diminish the observed AUC improvement.</a:t>
            </a:r>
          </a:p>
        </p:txBody>
      </p:sp>
    </p:spTree>
    <p:extLst>
      <p:ext uri="{BB962C8B-B14F-4D97-AF65-F5344CB8AC3E}">
        <p14:creationId xmlns:p14="http://schemas.microsoft.com/office/powerpoint/2010/main" val="180408710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46682-248C-41A2-8DC7-430807E4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FUTURE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B2109-FCDB-409E-95E0-C636FE72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Promising research extensions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488CA-DD69-4434-96E0-4A4C2BB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98D9E-62FA-4DA2-93CD-DCBFB11E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F5314-77F2-4243-A1DD-091D1393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EF8A1-D4FB-489F-838E-C0FAF6E3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143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66AF6-42FF-4EDE-93EC-ADDCEA2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Row-Level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EF563-8EE8-4A53-ABE8-12CE1BD1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Replace traffic archetypes with ground-truth device identity where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4E11B-02E8-4933-8711-587F4C87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650FE-B555-496C-9AFD-7F574A6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Baseline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E3255-D654-4B38-A1BA-136DE91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Compare against FedProx, IFCA, and Ditto on same N-BaIoT 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7017A-2148-47BF-BF79-108F43FF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143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A11C6-5161-431C-A11B-EA760FB3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Multi-Node 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8312A-28BB-4DBB-AD3F-14E81B0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Deploy Spark pipeline to multi-node cluster and measure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EBEE5-1997-4952-BA40-CB52BC1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5143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5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845F-25BF-42D0-B3FA-4DAF2B80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171C34"/>
                </a:solidFill>
                <a:latin typeface="Helvetica"/>
                <a:ea typeface="Helvetica"/>
                <a:cs typeface="Helvetica"/>
              </a:rPr>
              <a:t>Dynamic Clustering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1DF8A-C388-444B-8EE5-B6AA401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Explore per-round adaptive clustering based on convergence curves</a:t>
            </a:r>
          </a:p>
        </p:txBody>
      </p:sp>
    </p:spTree>
    <p:extLst>
      <p:ext uri="{BB962C8B-B14F-4D97-AF65-F5344CB8AC3E}">
        <p14:creationId xmlns:p14="http://schemas.microsoft.com/office/powerpoint/2010/main" val="106172973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52EC5-7580-43CC-BB5D-1215F88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087E8B"/>
                </a:solidFill>
                <a:latin typeface="Helvetica"/>
                <a:ea typeface="Helvetica"/>
                <a:cs typeface="Helvetica"/>
              </a:rPr>
              <a:t>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064A0-067A-4F73-AAAB-96A60DE4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Engineering and empirical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38BE-854B-4DF7-A3C6-370BE85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8"/>
          </a:solidFill>
          <a:ln xmlns:a="http://schemas.openxmlformats.org/drawingml/2006/main" w="9525">
            <a:solidFill>
              <a:srgbClr val="D9E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7A683-CB8E-49CC-B72C-99B38219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3B4ED-35B4-44EA-A96D-76DF33C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64748B"/>
                </a:solidFill>
                <a:latin typeface="Helvetica"/>
                <a:ea typeface="Helvetica"/>
                <a:cs typeface="Helvetica"/>
              </a:rPr>
              <a:t>FedHome |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396FD-3EA8-4EFA-8CAF-BFF3D02C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86424-740C-4ED0-A44F-C5819FB1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Deterministic split-manifest framework for reproducible FL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E8849-17E3-4F7E-8B3B-FEAB8CD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6A898-EB26-47D9-AA2E-D7D6E61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Spark-assisted Phase 2 preprocessing pipeline (scalability-ready architecture)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E1C6A-9098-4A94-ACF0-B527AA3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832CE-34E7-412C-88D9-574E427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JS-divergence clustering workflow with Ward hierarchical clustering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24E3A-1AE1-4614-A5D6-C9DB9DE2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CAB1D-D5BC-43FA-943B-F378FD40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Cluster-aware federated training implementation (per-cluster FedMSE)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90324-704F-40F1-8597-0339582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4A969-9078-44D9-802C-2F6AE94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Weighted ensemble merge preserving cluster specialization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34011-3EE7-46EB-BD4F-6F383ED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303E7-ECF1-4DB5-90F9-8F91840E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Empirical demonstration: +0.022238 AUC gain over strong FedMSE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F466A-FD0E-4B5C-833E-038B088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7B1"/>
          </a:solidFill>
          <a:ln xmlns:a="http://schemas.openxmlformats.org/drawingml/2006/main" w="9525">
            <a:solidFill>
              <a:srgbClr val="18B7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1900B-1F24-4E1E-8E80-9D9E3AAD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263041"/>
                </a:solidFill>
                <a:latin typeface="Helvetica"/>
                <a:ea typeface="Helvetica"/>
                <a:cs typeface="Helvetica"/>
              </a:rPr>
              <a:t>Comprehensive evaluation on 50-gateway Non-IID N-BaIoT dataset</a:t>
            </a:r>
          </a:p>
        </p:txBody>
      </p:sp>
    </p:spTree>
    <p:extLst>
      <p:ext uri="{BB962C8B-B14F-4D97-AF65-F5344CB8AC3E}">
        <p14:creationId xmlns:p14="http://schemas.microsoft.com/office/powerpoint/2010/main" val="9812530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EBA59-BC87-4D0A-A8EC-FCAE1C69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19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B7B1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18B7B1"/>
                </a:solidFill>
                <a:latin typeface="Helvetica"/>
                <a:ea typeface="Helvetica"/>
                <a:cs typeface="Helvetica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6B759-35B7-4F5B-8B78-53280B3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D3F0F-602F-4767-B2B7-5B68C820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Md. Raihan Sobhan</a:t>
            </a:r>
          </a:p>
          <a:p xmlns:a="http://schemas.openxmlformats.org/drawingml/2006/main">
            <a:pPr algn="r">
              <a:def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Big Data Analytics</a:t>
            </a:r>
          </a:p>
          <a:p xmlns:a="http://schemas.openxmlformats.org/drawingml/2006/main">
            <a:pPr algn="r">
              <a:def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E2E8F0"/>
                </a:solidFill>
                <a:latin typeface="Helvetica"/>
                <a:ea typeface="Helvetica"/>
                <a:cs typeface="Helvetica"/>
              </a:rPr>
              <a:t>FedHome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7CCDF-9468-4C2D-97E9-9CB5E55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E1E4F-721E-4154-8C6D-BCA2CAD4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02421-B205-4E78-8C9C-93C9A30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5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B7D10-B29E-4C9C-AFF8-71B5076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23352-5C22-422B-8D92-7E9A8F35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Device-Type-Aware Client Clustering for Federated Anomaly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C5EF0-06D9-40B6-811A-5234114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defRPr>
            </a:pPr>
            <a:r>
              <a:rPr sz="750" b="0">
                <a:solidFill>
                  <a:srgbClr val="CAD5E1"/>
                </a:solidFill>
                <a:latin typeface="Helvetica"/>
                <a:ea typeface="Helvetica"/>
                <a:cs typeface="Helvetica"/>
              </a:rPr>
              <a:t>FedHome | 29</a:t>
            </a:r>
          </a:p>
        </p:txBody>
      </p:sp>
    </p:spTree>
    <p:extLst>
      <p:ext uri="{BB962C8B-B14F-4D97-AF65-F5344CB8AC3E}">
        <p14:creationId xmlns:p14="http://schemas.microsoft.com/office/powerpoint/2010/main" val="908670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2026-08-08T11:24:15.5360000Z</dcterms:created>
  <dcterms:modified xsi:type="dcterms:W3CDTF">2026-08-08T11:24:15.5360000Z</dcterms:modified>
</coreProperties>
</file>