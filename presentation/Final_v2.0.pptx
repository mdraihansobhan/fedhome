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10236962" y="642985"/>
            <a:ext cx="164422" cy="164421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0785030" y="1191053"/>
            <a:ext cx="91345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1333098" y="505967"/>
            <a:ext cx="109615" cy="109615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9688893" y="1419415"/>
            <a:ext cx="91346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1011142" y="6032325"/>
            <a:ext cx="127883" cy="127884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554418" y="5392911"/>
            <a:ext cx="91346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1559210" y="5666946"/>
            <a:ext cx="109615" cy="109615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11150410" y="6123670"/>
            <a:ext cx="146152" cy="146152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10510996" y="5666946"/>
            <a:ext cx="91346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828452" y="1523672"/>
            <a:ext cx="10504648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30" sz="1200">
                <a:solidFill>
                  <a:srgbClr val="5FC9C2"/>
                </a:solidFill>
              </a:defRPr>
            </a:lvl1pPr>
          </a:lstStyle>
          <a:p>
            <a:pPr/>
            <a:r>
              <a:t>BIG DATA ANALYTICS  •  PROJECT FINAL PRESENTATION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782780" y="1893371"/>
            <a:ext cx="10504647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FedHome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828452" y="3102897"/>
            <a:ext cx="9865235" cy="569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i="1">
                <a:solidFill>
                  <a:srgbClr val="CADCFC"/>
                </a:solidFill>
              </a:defRPr>
            </a:pPr>
            <a:r>
              <a:t>Device-Type-Aware Client Clustering for Privacy-Preserving</a:t>
            </a:r>
          </a:p>
          <a:p>
            <a:pPr>
              <a:lnSpc>
                <a:spcPct val="115000"/>
              </a:lnSpc>
              <a:defRPr i="1">
                <a:solidFill>
                  <a:srgbClr val="CADCFC"/>
                </a:solidFill>
              </a:defRPr>
            </a:pPr>
            <a:r>
              <a:t>Federated Anomaly Detection in Non-IID Smart Home IoT Networks</a:t>
            </a:r>
          </a:p>
        </p:txBody>
      </p:sp>
      <p:sp>
        <p:nvSpPr>
          <p:cNvPr id="32" name="Shape 12"/>
          <p:cNvSpPr/>
          <p:nvPr/>
        </p:nvSpPr>
        <p:spPr>
          <a:xfrm>
            <a:off x="828452" y="4159758"/>
            <a:ext cx="3288412" cy="1"/>
          </a:xfrm>
          <a:prstGeom prst="line">
            <a:avLst/>
          </a:prstGeom>
          <a:ln w="12700">
            <a:solidFill>
              <a:srgbClr val="12A8A0"/>
            </a:solidFill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828452" y="4166433"/>
            <a:ext cx="7307582" cy="126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600">
                <a:solidFill>
                  <a:srgbClr val="FFFFFF"/>
                </a:solidFill>
              </a:defRPr>
            </a:pPr>
            <a:r>
              <a:t>Md. Raihan Sobhan</a:t>
            </a:r>
          </a:p>
          <a:p>
            <a:pPr>
              <a:lnSpc>
                <a:spcPct val="130000"/>
              </a:lnSpc>
              <a:defRPr b="1" sz="1600">
                <a:solidFill>
                  <a:srgbClr val="FFFFFF"/>
                </a:solidFill>
              </a:defRPr>
            </a:pPr>
            <a:r>
              <a:rPr b="0" sz="1200">
                <a:solidFill>
                  <a:srgbClr val="CADCFC"/>
                </a:solidFill>
              </a:rPr>
              <a:t>Big Data Analytics  •  October 2025</a:t>
            </a:r>
            <a:endParaRPr b="0" sz="1200">
              <a:solidFill>
                <a:srgbClr val="CADCFC"/>
              </a:solidFill>
            </a:endParaRPr>
          </a:p>
          <a:p>
            <a:pPr>
              <a:lnSpc>
                <a:spcPct val="130000"/>
              </a:lnSpc>
              <a:defRPr b="1" sz="1600">
                <a:solidFill>
                  <a:srgbClr val="FFFFFF"/>
                </a:solidFill>
              </a:defRPr>
            </a:pPr>
            <a:endParaRPr b="0" sz="1200">
              <a:solidFill>
                <a:srgbClr val="CADCFC"/>
              </a:solidFill>
            </a:endParaRPr>
          </a:p>
          <a:p>
            <a:pPr>
              <a:lnSpc>
                <a:spcPct val="130000"/>
              </a:lnSpc>
              <a:defRPr b="1" sz="1600">
                <a:solidFill>
                  <a:srgbClr val="FFFFFF"/>
                </a:solidFill>
              </a:defRPr>
            </a:pPr>
            <a:r>
              <a:t>Dr. Muhammad Abdullah Adnan</a:t>
            </a:r>
          </a:p>
          <a:p>
            <a:pPr>
              <a:lnSpc>
                <a:spcPct val="130000"/>
              </a:lnSpc>
              <a:defRPr sz="1200">
                <a:solidFill>
                  <a:srgbClr val="CADCFC"/>
                </a:solidFill>
              </a:defRPr>
            </a:pPr>
            <a:r>
              <a:t>Professor, Department of CSE, BUET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ADMAP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36" name="Comprehensive presentation covering all phases and result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Comprehensive presentation covering all phases and results</a:t>
            </a:r>
          </a:p>
        </p:txBody>
      </p:sp>
      <p:sp>
        <p:nvSpPr>
          <p:cNvPr id="37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9" name="FedHome | 02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02</a:t>
            </a:r>
          </a:p>
        </p:txBody>
      </p:sp>
      <p:sp>
        <p:nvSpPr>
          <p:cNvPr id="40" name="Rectangle"/>
          <p:cNvSpPr/>
          <p:nvPr/>
        </p:nvSpPr>
        <p:spPr>
          <a:xfrm>
            <a:off x="1123950" y="1762125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" name="01"/>
          <p:cNvSpPr txBox="1"/>
          <p:nvPr/>
        </p:nvSpPr>
        <p:spPr>
          <a:xfrm>
            <a:off x="1455419" y="1990725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2" name="Problem &amp; Motivation"/>
          <p:cNvSpPr txBox="1"/>
          <p:nvPr/>
        </p:nvSpPr>
        <p:spPr>
          <a:xfrm>
            <a:off x="2217419" y="1990725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Problem &amp; Motivation</a:t>
            </a:r>
          </a:p>
        </p:txBody>
      </p:sp>
      <p:sp>
        <p:nvSpPr>
          <p:cNvPr id="43" name="Rectangle"/>
          <p:cNvSpPr/>
          <p:nvPr/>
        </p:nvSpPr>
        <p:spPr>
          <a:xfrm>
            <a:off x="6324600" y="1762125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02"/>
          <p:cNvSpPr txBox="1"/>
          <p:nvPr/>
        </p:nvSpPr>
        <p:spPr>
          <a:xfrm>
            <a:off x="6656069" y="1990725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5" name="FedMSE Baseline"/>
          <p:cNvSpPr txBox="1"/>
          <p:nvPr/>
        </p:nvSpPr>
        <p:spPr>
          <a:xfrm>
            <a:off x="7418069" y="1990725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FedMSE Baseline</a:t>
            </a:r>
          </a:p>
        </p:txBody>
      </p:sp>
      <p:sp>
        <p:nvSpPr>
          <p:cNvPr id="46" name="Rectangle"/>
          <p:cNvSpPr/>
          <p:nvPr/>
        </p:nvSpPr>
        <p:spPr>
          <a:xfrm>
            <a:off x="1123950" y="2762250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" name="03"/>
          <p:cNvSpPr txBox="1"/>
          <p:nvPr/>
        </p:nvSpPr>
        <p:spPr>
          <a:xfrm>
            <a:off x="1455419" y="2990850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8" name="FedHome Solution"/>
          <p:cNvSpPr txBox="1"/>
          <p:nvPr/>
        </p:nvSpPr>
        <p:spPr>
          <a:xfrm>
            <a:off x="2217419" y="2990850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Solution</a:t>
            </a:r>
          </a:p>
        </p:txBody>
      </p:sp>
      <p:sp>
        <p:nvSpPr>
          <p:cNvPr id="49" name="Rectangle"/>
          <p:cNvSpPr/>
          <p:nvPr/>
        </p:nvSpPr>
        <p:spPr>
          <a:xfrm>
            <a:off x="6324600" y="2762250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" name="04"/>
          <p:cNvSpPr txBox="1"/>
          <p:nvPr/>
        </p:nvSpPr>
        <p:spPr>
          <a:xfrm>
            <a:off x="6656069" y="2990850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1" name="Implementation Details"/>
          <p:cNvSpPr txBox="1"/>
          <p:nvPr/>
        </p:nvSpPr>
        <p:spPr>
          <a:xfrm>
            <a:off x="7418069" y="2990850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Implementation Details</a:t>
            </a:r>
          </a:p>
        </p:txBody>
      </p:sp>
      <p:sp>
        <p:nvSpPr>
          <p:cNvPr id="52" name="Rectangle"/>
          <p:cNvSpPr/>
          <p:nvPr/>
        </p:nvSpPr>
        <p:spPr>
          <a:xfrm>
            <a:off x="1123950" y="3762375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" name="05"/>
          <p:cNvSpPr txBox="1"/>
          <p:nvPr/>
        </p:nvSpPr>
        <p:spPr>
          <a:xfrm>
            <a:off x="1455419" y="3990975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4" name="Experimental Results"/>
          <p:cNvSpPr txBox="1"/>
          <p:nvPr/>
        </p:nvSpPr>
        <p:spPr>
          <a:xfrm>
            <a:off x="2217419" y="3990975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Experimental Results</a:t>
            </a:r>
          </a:p>
        </p:txBody>
      </p:sp>
      <p:sp>
        <p:nvSpPr>
          <p:cNvPr id="55" name="Rectangle"/>
          <p:cNvSpPr/>
          <p:nvPr/>
        </p:nvSpPr>
        <p:spPr>
          <a:xfrm>
            <a:off x="6324600" y="3762375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" name="06"/>
          <p:cNvSpPr txBox="1"/>
          <p:nvPr/>
        </p:nvSpPr>
        <p:spPr>
          <a:xfrm>
            <a:off x="6656069" y="3990975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57" name="Analysis &amp; Figures"/>
          <p:cNvSpPr txBox="1"/>
          <p:nvPr/>
        </p:nvSpPr>
        <p:spPr>
          <a:xfrm>
            <a:off x="7418069" y="3990975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Analysis &amp; Figures</a:t>
            </a:r>
          </a:p>
        </p:txBody>
      </p:sp>
      <p:sp>
        <p:nvSpPr>
          <p:cNvPr id="58" name="Rectangle"/>
          <p:cNvSpPr/>
          <p:nvPr/>
        </p:nvSpPr>
        <p:spPr>
          <a:xfrm>
            <a:off x="1123950" y="4762500"/>
            <a:ext cx="4381500" cy="7429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" name="07"/>
          <p:cNvSpPr txBox="1"/>
          <p:nvPr/>
        </p:nvSpPr>
        <p:spPr>
          <a:xfrm>
            <a:off x="1455419" y="4991100"/>
            <a:ext cx="42291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60" name="Conclusion"/>
          <p:cNvSpPr txBox="1"/>
          <p:nvPr/>
        </p:nvSpPr>
        <p:spPr>
          <a:xfrm>
            <a:off x="2217419" y="4991100"/>
            <a:ext cx="2861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Conclusion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3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4" name="01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5" name="Problem Statement &amp; Motivation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Problem Statement &amp; Motivation</a:t>
            </a:r>
          </a:p>
        </p:txBody>
      </p:sp>
      <p:sp>
        <p:nvSpPr>
          <p:cNvPr id="66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7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71" name="FedHome | 04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MOTIVATION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74" name="IoT botnet detection is critical but privacy-sensitive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IoT botnet detection is critical but privacy-sensitive</a:t>
            </a:r>
          </a:p>
        </p:txBody>
      </p:sp>
      <p:sp>
        <p:nvSpPr>
          <p:cNvPr id="75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77" name="FedHome | 05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05</a:t>
            </a:r>
          </a:p>
        </p:txBody>
      </p:sp>
      <p:sp>
        <p:nvSpPr>
          <p:cNvPr id="78" name="Challenge"/>
          <p:cNvSpPr txBox="1"/>
          <p:nvPr/>
        </p:nvSpPr>
        <p:spPr>
          <a:xfrm>
            <a:off x="750569" y="1695450"/>
            <a:ext cx="124206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Challenge</a:t>
            </a:r>
          </a:p>
        </p:txBody>
      </p:sp>
      <p:sp>
        <p:nvSpPr>
          <p:cNvPr id="79" name="Detect anomalous IoT traffic while preserving household privacy and handling extreme client heterogeneity."/>
          <p:cNvSpPr txBox="1"/>
          <p:nvPr/>
        </p:nvSpPr>
        <p:spPr>
          <a:xfrm>
            <a:off x="1474469" y="1657350"/>
            <a:ext cx="7528562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Detect anomalous IoT traffic while preserving household privacy and handling extreme client heterogeneity.</a:t>
            </a:r>
          </a:p>
        </p:txBody>
      </p:sp>
      <p:sp>
        <p:nvSpPr>
          <p:cNvPr id="80" name="Circle"/>
          <p:cNvSpPr/>
          <p:nvPr/>
        </p:nvSpPr>
        <p:spPr>
          <a:xfrm>
            <a:off x="704850" y="2400300"/>
            <a:ext cx="361950" cy="3619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1"/>
          <p:cNvSpPr txBox="1"/>
          <p:nvPr/>
        </p:nvSpPr>
        <p:spPr>
          <a:xfrm>
            <a:off x="855344" y="2486025"/>
            <a:ext cx="6096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2" name="Privacy"/>
          <p:cNvSpPr txBox="1"/>
          <p:nvPr/>
        </p:nvSpPr>
        <p:spPr>
          <a:xfrm>
            <a:off x="1341119" y="2324100"/>
            <a:ext cx="37185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83" name="Raw traffic exposes routines  →  No centralization allowed"/>
          <p:cNvSpPr txBox="1"/>
          <p:nvPr/>
        </p:nvSpPr>
        <p:spPr>
          <a:xfrm>
            <a:off x="1341119" y="2609850"/>
            <a:ext cx="8481062" cy="23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Raw traffic exposes routines  →  No centralization allowed</a:t>
            </a:r>
          </a:p>
        </p:txBody>
      </p:sp>
      <p:sp>
        <p:nvSpPr>
          <p:cNvPr id="84" name="Circle"/>
          <p:cNvSpPr/>
          <p:nvPr/>
        </p:nvSpPr>
        <p:spPr>
          <a:xfrm>
            <a:off x="704850" y="3162300"/>
            <a:ext cx="361950" cy="3619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5" name="2"/>
          <p:cNvSpPr txBox="1"/>
          <p:nvPr/>
        </p:nvSpPr>
        <p:spPr>
          <a:xfrm>
            <a:off x="855344" y="3248025"/>
            <a:ext cx="6096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6" name="Heterogeneity"/>
          <p:cNvSpPr txBox="1"/>
          <p:nvPr/>
        </p:nvSpPr>
        <p:spPr>
          <a:xfrm>
            <a:off x="1341119" y="3086100"/>
            <a:ext cx="37185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Heterogeneity</a:t>
            </a:r>
          </a:p>
        </p:txBody>
      </p:sp>
      <p:sp>
        <p:nvSpPr>
          <p:cNvPr id="87" name="50 gateways, different mixes  →  Camera vs Thermostat heavy"/>
          <p:cNvSpPr txBox="1"/>
          <p:nvPr/>
        </p:nvSpPr>
        <p:spPr>
          <a:xfrm>
            <a:off x="1341119" y="3371850"/>
            <a:ext cx="8481062" cy="23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50 gateways, different mixes  →  Camera vs Thermostat heavy</a:t>
            </a:r>
          </a:p>
        </p:txBody>
      </p:sp>
      <p:sp>
        <p:nvSpPr>
          <p:cNvPr id="88" name="Circle"/>
          <p:cNvSpPr/>
          <p:nvPr/>
        </p:nvSpPr>
        <p:spPr>
          <a:xfrm>
            <a:off x="704850" y="3924300"/>
            <a:ext cx="361950" cy="3619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9" name="3"/>
          <p:cNvSpPr txBox="1"/>
          <p:nvPr/>
        </p:nvSpPr>
        <p:spPr>
          <a:xfrm>
            <a:off x="855344" y="4010025"/>
            <a:ext cx="6096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" name="Scale"/>
          <p:cNvSpPr txBox="1"/>
          <p:nvPr/>
        </p:nvSpPr>
        <p:spPr>
          <a:xfrm>
            <a:off x="1341119" y="3848100"/>
            <a:ext cx="37185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Scale</a:t>
            </a:r>
          </a:p>
        </p:txBody>
      </p:sp>
      <p:sp>
        <p:nvSpPr>
          <p:cNvPr id="91" name="Thousands of homes possible  →  Distributed processing needed"/>
          <p:cNvSpPr txBox="1"/>
          <p:nvPr/>
        </p:nvSpPr>
        <p:spPr>
          <a:xfrm>
            <a:off x="1341119" y="4133850"/>
            <a:ext cx="8481062" cy="23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Thousands of homes possible  →  Distributed processing needed</a:t>
            </a:r>
          </a:p>
        </p:txBody>
      </p:sp>
      <p:sp>
        <p:nvSpPr>
          <p:cNvPr id="92" name="Circle"/>
          <p:cNvSpPr/>
          <p:nvPr/>
        </p:nvSpPr>
        <p:spPr>
          <a:xfrm>
            <a:off x="704850" y="4686300"/>
            <a:ext cx="361950" cy="3619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3" name="4"/>
          <p:cNvSpPr txBox="1"/>
          <p:nvPr/>
        </p:nvSpPr>
        <p:spPr>
          <a:xfrm>
            <a:off x="855344" y="4772025"/>
            <a:ext cx="6096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4" name="Attacks"/>
          <p:cNvSpPr txBox="1"/>
          <p:nvPr/>
        </p:nvSpPr>
        <p:spPr>
          <a:xfrm>
            <a:off x="1341119" y="4610100"/>
            <a:ext cx="37185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Attacks</a:t>
            </a:r>
          </a:p>
        </p:txBody>
      </p:sp>
      <p:sp>
        <p:nvSpPr>
          <p:cNvPr id="95" name="Mirai &amp; Gafgyt botnets  →  One-class detection only"/>
          <p:cNvSpPr txBox="1"/>
          <p:nvPr/>
        </p:nvSpPr>
        <p:spPr>
          <a:xfrm>
            <a:off x="1341119" y="4895850"/>
            <a:ext cx="8481062" cy="23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Mirai &amp; Gafgyt botnets  →  One-class detection only</a:t>
            </a:r>
          </a:p>
        </p:txBody>
      </p:sp>
      <p:sp>
        <p:nvSpPr>
          <p:cNvPr id="96" name="Rectangle"/>
          <p:cNvSpPr/>
          <p:nvPr/>
        </p:nvSpPr>
        <p:spPr>
          <a:xfrm>
            <a:off x="8515350" y="1974850"/>
            <a:ext cx="2647950" cy="314325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21.9B"/>
          <p:cNvSpPr txBox="1"/>
          <p:nvPr/>
        </p:nvSpPr>
        <p:spPr>
          <a:xfrm>
            <a:off x="8808719" y="2095500"/>
            <a:ext cx="2061212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F29E4C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21.9B</a:t>
            </a:r>
          </a:p>
        </p:txBody>
      </p:sp>
      <p:sp>
        <p:nvSpPr>
          <p:cNvPr id="98" name="connected IoT devices"/>
          <p:cNvSpPr txBox="1"/>
          <p:nvPr/>
        </p:nvSpPr>
        <p:spPr>
          <a:xfrm>
            <a:off x="8808719" y="2476500"/>
            <a:ext cx="20612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connected IoT devices</a:t>
            </a:r>
          </a:p>
        </p:txBody>
      </p:sp>
      <p:sp>
        <p:nvSpPr>
          <p:cNvPr id="99" name="83%"/>
          <p:cNvSpPr txBox="1"/>
          <p:nvPr/>
        </p:nvSpPr>
        <p:spPr>
          <a:xfrm>
            <a:off x="8808719" y="3190875"/>
            <a:ext cx="2061212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F29E4C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83%</a:t>
            </a:r>
          </a:p>
        </p:txBody>
      </p:sp>
      <p:sp>
        <p:nvSpPr>
          <p:cNvPr id="100" name="routers with vulnerabilities"/>
          <p:cNvSpPr txBox="1"/>
          <p:nvPr/>
        </p:nvSpPr>
        <p:spPr>
          <a:xfrm>
            <a:off x="8808719" y="3571875"/>
            <a:ext cx="20612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routers with vulnerabilities</a:t>
            </a:r>
          </a:p>
        </p:txBody>
      </p:sp>
      <p:sp>
        <p:nvSpPr>
          <p:cNvPr id="101" name="~1M"/>
          <p:cNvSpPr txBox="1"/>
          <p:nvPr/>
        </p:nvSpPr>
        <p:spPr>
          <a:xfrm>
            <a:off x="8808719" y="4000500"/>
            <a:ext cx="2061212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F29E4C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~1M</a:t>
            </a:r>
          </a:p>
        </p:txBody>
      </p:sp>
      <p:sp>
        <p:nvSpPr>
          <p:cNvPr id="102" name="compromised devices in botnets"/>
          <p:cNvSpPr txBox="1"/>
          <p:nvPr/>
        </p:nvSpPr>
        <p:spPr>
          <a:xfrm>
            <a:off x="8808719" y="4381500"/>
            <a:ext cx="20612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compromised devices in botnets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ON-IID CHALLENGE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NON-IID CHALLENGE</a:t>
            </a:r>
          </a:p>
        </p:txBody>
      </p:sp>
      <p:sp>
        <p:nvSpPr>
          <p:cNvPr id="105" name="Different gateways have fundamentally different traffic distribution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Different gateways have fundamentally different traffic distributions</a:t>
            </a:r>
          </a:p>
        </p:txBody>
      </p:sp>
      <p:sp>
        <p:nvSpPr>
          <p:cNvPr id="106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7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108" name="FedHome | 06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06</a:t>
            </a:r>
          </a:p>
        </p:txBody>
      </p:sp>
      <p:sp>
        <p:nvSpPr>
          <p:cNvPr id="109" name="Rectangle"/>
          <p:cNvSpPr/>
          <p:nvPr/>
        </p:nvSpPr>
        <p:spPr>
          <a:xfrm>
            <a:off x="714375" y="1828800"/>
            <a:ext cx="3143250" cy="29527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0" name="Camera-heavy"/>
          <p:cNvSpPr txBox="1"/>
          <p:nvPr/>
        </p:nvSpPr>
        <p:spPr>
          <a:xfrm>
            <a:off x="1045844" y="2171700"/>
            <a:ext cx="2385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Camera-heavy</a:t>
            </a:r>
          </a:p>
        </p:txBody>
      </p:sp>
      <p:sp>
        <p:nvSpPr>
          <p:cNvPr id="111" name="✓ High-volume streams…"/>
          <p:cNvSpPr txBox="1"/>
          <p:nvPr/>
        </p:nvSpPr>
        <p:spPr>
          <a:xfrm>
            <a:off x="1045844" y="2724150"/>
            <a:ext cx="2289812" cy="671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High-volume streams</a:t>
            </a:r>
          </a:p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Video-heavy features</a:t>
            </a:r>
          </a:p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Frequent burst behavior</a:t>
            </a:r>
          </a:p>
        </p:txBody>
      </p:sp>
      <p:sp>
        <p:nvSpPr>
          <p:cNvPr id="112" name="Rectangle"/>
          <p:cNvSpPr/>
          <p:nvPr/>
        </p:nvSpPr>
        <p:spPr>
          <a:xfrm>
            <a:off x="4514850" y="1828800"/>
            <a:ext cx="3143250" cy="29527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Thermostat-heavy"/>
          <p:cNvSpPr txBox="1"/>
          <p:nvPr/>
        </p:nvSpPr>
        <p:spPr>
          <a:xfrm>
            <a:off x="4846319" y="2171700"/>
            <a:ext cx="2385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Thermostat-heavy</a:t>
            </a:r>
          </a:p>
        </p:txBody>
      </p:sp>
      <p:sp>
        <p:nvSpPr>
          <p:cNvPr id="114" name="✓ Periodic telemetry…"/>
          <p:cNvSpPr txBox="1"/>
          <p:nvPr/>
        </p:nvSpPr>
        <p:spPr>
          <a:xfrm>
            <a:off x="4846319" y="2724150"/>
            <a:ext cx="2289812" cy="671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Periodic telemetry</a:t>
            </a:r>
          </a:p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Lower bandwidth</a:t>
            </a:r>
          </a:p>
          <a:p>
            <a: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✓ Different normal baseline</a:t>
            </a:r>
          </a:p>
        </p:txBody>
      </p:sp>
      <p:sp>
        <p:nvSpPr>
          <p:cNvPr id="115" name="Rectangle"/>
          <p:cNvSpPr/>
          <p:nvPr/>
        </p:nvSpPr>
        <p:spPr>
          <a:xfrm>
            <a:off x="8305800" y="1828800"/>
            <a:ext cx="2667000" cy="2952750"/>
          </a:xfrm>
          <a:prstGeom prst="rect">
            <a:avLst/>
          </a:prstGeom>
          <a:solidFill>
            <a:srgbClr val="EAF7FA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6" name="Core Problem"/>
          <p:cNvSpPr txBox="1"/>
          <p:nvPr/>
        </p:nvSpPr>
        <p:spPr>
          <a:xfrm>
            <a:off x="8637269" y="2171700"/>
            <a:ext cx="2004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117" name="A single global model averaged over these diverse clients will compromise on both, fitting neither well."/>
          <p:cNvSpPr txBox="1"/>
          <p:nvPr/>
        </p:nvSpPr>
        <p:spPr>
          <a:xfrm>
            <a:off x="8637269" y="2724150"/>
            <a:ext cx="1956437" cy="980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 single global model averaged over these diverse clients will compromise on both, fitting neither well.</a:t>
            </a:r>
          </a:p>
        </p:txBody>
      </p:sp>
      <p:sp>
        <p:nvSpPr>
          <p:cNvPr id="118" name="FedHome's hypothesis: Can we cluster clients by device type before federation to improve results?"/>
          <p:cNvSpPr txBox="1"/>
          <p:nvPr/>
        </p:nvSpPr>
        <p:spPr>
          <a:xfrm>
            <a:off x="760094" y="5410200"/>
            <a:ext cx="95288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FedHome's hypothesis: Can we cluster clients by device type before federation to improve results?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1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2" name="03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3" name="FedHome Solution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Solution</a:t>
            </a:r>
          </a:p>
        </p:txBody>
      </p:sp>
      <p:sp>
        <p:nvSpPr>
          <p:cNvPr id="124" name="Cluster-aware federation for heterogeneous IoT networks"/>
          <p:cNvSpPr txBox="1"/>
          <p:nvPr/>
        </p:nvSpPr>
        <p:spPr>
          <a:xfrm>
            <a:off x="2674619" y="3695700"/>
            <a:ext cx="63855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Cluster-aware federation for heterogeneous IoT networks</a:t>
            </a:r>
          </a:p>
        </p:txBody>
      </p:sp>
      <p:sp>
        <p:nvSpPr>
          <p:cNvPr id="125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6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7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8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130" name="FedHome | 07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CHITECTURE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33" name="Four-phase pipeline: profile → cluster → train → merge"/>
          <p:cNvSpPr txBox="1"/>
          <p:nvPr/>
        </p:nvSpPr>
        <p:spPr>
          <a:xfrm>
            <a:off x="598169" y="609600"/>
            <a:ext cx="10100312" cy="426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Four-phase pipeline: profile → cluster → train → merge</a:t>
            </a:r>
          </a:p>
        </p:txBody>
      </p:sp>
      <p:sp>
        <p:nvSpPr>
          <p:cNvPr id="134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136" name="FedHome | 08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08</a:t>
            </a:r>
          </a:p>
        </p:txBody>
      </p:sp>
      <p:sp>
        <p:nvSpPr>
          <p:cNvPr id="137" name="Square"/>
          <p:cNvSpPr/>
          <p:nvPr/>
        </p:nvSpPr>
        <p:spPr>
          <a:xfrm>
            <a:off x="781050" y="2095500"/>
            <a:ext cx="2038350" cy="20383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8" name="Circle"/>
          <p:cNvSpPr/>
          <p:nvPr/>
        </p:nvSpPr>
        <p:spPr>
          <a:xfrm>
            <a:off x="1504950" y="1752600"/>
            <a:ext cx="590550" cy="5905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9" name="1"/>
          <p:cNvSpPr txBox="1"/>
          <p:nvPr/>
        </p:nvSpPr>
        <p:spPr>
          <a:xfrm>
            <a:off x="1741169" y="1905000"/>
            <a:ext cx="1181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" name="Profile"/>
          <p:cNvSpPr txBox="1"/>
          <p:nvPr/>
        </p:nvSpPr>
        <p:spPr>
          <a:xfrm>
            <a:off x="1150619" y="2590800"/>
            <a:ext cx="12992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Profile</a:t>
            </a:r>
          </a:p>
        </p:txBody>
      </p:sp>
      <p:sp>
        <p:nvSpPr>
          <p:cNvPr id="141" name="Extract device-type…"/>
          <p:cNvSpPr txBox="1"/>
          <p:nvPr/>
        </p:nvSpPr>
        <p:spPr>
          <a:xfrm>
            <a:off x="1074419" y="3095625"/>
            <a:ext cx="145161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Extract device-type</a:t>
            </a:r>
          </a:p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proportions</a:t>
            </a:r>
          </a:p>
        </p:txBody>
      </p:sp>
      <p:sp>
        <p:nvSpPr>
          <p:cNvPr id="142" name="&gt;"/>
          <p:cNvSpPr txBox="1"/>
          <p:nvPr/>
        </p:nvSpPr>
        <p:spPr>
          <a:xfrm>
            <a:off x="3093719" y="2914650"/>
            <a:ext cx="2324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3" name="Square"/>
          <p:cNvSpPr/>
          <p:nvPr/>
        </p:nvSpPr>
        <p:spPr>
          <a:xfrm>
            <a:off x="3495675" y="2095500"/>
            <a:ext cx="2038350" cy="20383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4" name="Circle"/>
          <p:cNvSpPr/>
          <p:nvPr/>
        </p:nvSpPr>
        <p:spPr>
          <a:xfrm>
            <a:off x="4219575" y="1752600"/>
            <a:ext cx="590550" cy="5905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5" name="2"/>
          <p:cNvSpPr txBox="1"/>
          <p:nvPr/>
        </p:nvSpPr>
        <p:spPr>
          <a:xfrm>
            <a:off x="4455794" y="1905000"/>
            <a:ext cx="1181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6" name="Cluster"/>
          <p:cNvSpPr txBox="1"/>
          <p:nvPr/>
        </p:nvSpPr>
        <p:spPr>
          <a:xfrm>
            <a:off x="3865244" y="2590800"/>
            <a:ext cx="12992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</a:t>
            </a:r>
          </a:p>
        </p:txBody>
      </p:sp>
      <p:sp>
        <p:nvSpPr>
          <p:cNvPr id="147" name="Group gateways by…"/>
          <p:cNvSpPr txBox="1"/>
          <p:nvPr/>
        </p:nvSpPr>
        <p:spPr>
          <a:xfrm>
            <a:off x="3789044" y="3095625"/>
            <a:ext cx="145161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Group gateways by</a:t>
            </a:r>
          </a:p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JS-divergence</a:t>
            </a:r>
          </a:p>
        </p:txBody>
      </p:sp>
      <p:sp>
        <p:nvSpPr>
          <p:cNvPr id="148" name="&gt;"/>
          <p:cNvSpPr txBox="1"/>
          <p:nvPr/>
        </p:nvSpPr>
        <p:spPr>
          <a:xfrm>
            <a:off x="5808344" y="2914650"/>
            <a:ext cx="2324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49" name="Square"/>
          <p:cNvSpPr/>
          <p:nvPr/>
        </p:nvSpPr>
        <p:spPr>
          <a:xfrm>
            <a:off x="6210300" y="2095500"/>
            <a:ext cx="2038350" cy="20383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" name="Circle"/>
          <p:cNvSpPr/>
          <p:nvPr/>
        </p:nvSpPr>
        <p:spPr>
          <a:xfrm>
            <a:off x="6934200" y="1752600"/>
            <a:ext cx="590550" cy="590550"/>
          </a:xfrm>
          <a:prstGeom prst="ellipse">
            <a:avLst/>
          </a:prstGeom>
          <a:solidFill>
            <a:srgbClr val="F29E4C"/>
          </a:solidFill>
          <a:ln>
            <a:solidFill>
              <a:srgbClr val="F29E4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1" name="3"/>
          <p:cNvSpPr txBox="1"/>
          <p:nvPr/>
        </p:nvSpPr>
        <p:spPr>
          <a:xfrm>
            <a:off x="7170419" y="1905000"/>
            <a:ext cx="1181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2" name="Train"/>
          <p:cNvSpPr txBox="1"/>
          <p:nvPr/>
        </p:nvSpPr>
        <p:spPr>
          <a:xfrm>
            <a:off x="6579869" y="2590800"/>
            <a:ext cx="12992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Train</a:t>
            </a:r>
          </a:p>
        </p:txBody>
      </p:sp>
      <p:sp>
        <p:nvSpPr>
          <p:cNvPr id="153" name="Run FedMSE…"/>
          <p:cNvSpPr txBox="1"/>
          <p:nvPr/>
        </p:nvSpPr>
        <p:spPr>
          <a:xfrm>
            <a:off x="6503669" y="3095625"/>
            <a:ext cx="145161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Run FedMSE</a:t>
            </a:r>
          </a:p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per cluster</a:t>
            </a:r>
          </a:p>
        </p:txBody>
      </p:sp>
      <p:sp>
        <p:nvSpPr>
          <p:cNvPr id="154" name="&gt;"/>
          <p:cNvSpPr txBox="1"/>
          <p:nvPr/>
        </p:nvSpPr>
        <p:spPr>
          <a:xfrm>
            <a:off x="8522969" y="2914650"/>
            <a:ext cx="2324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55" name="Square"/>
          <p:cNvSpPr/>
          <p:nvPr/>
        </p:nvSpPr>
        <p:spPr>
          <a:xfrm>
            <a:off x="8924925" y="2095500"/>
            <a:ext cx="2038350" cy="20383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Circle"/>
          <p:cNvSpPr/>
          <p:nvPr/>
        </p:nvSpPr>
        <p:spPr>
          <a:xfrm>
            <a:off x="9648825" y="1752600"/>
            <a:ext cx="590550" cy="59055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7" name="4"/>
          <p:cNvSpPr txBox="1"/>
          <p:nvPr/>
        </p:nvSpPr>
        <p:spPr>
          <a:xfrm>
            <a:off x="9885044" y="1905000"/>
            <a:ext cx="1181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8" name="Merge"/>
          <p:cNvSpPr txBox="1"/>
          <p:nvPr/>
        </p:nvSpPr>
        <p:spPr>
          <a:xfrm>
            <a:off x="9294494" y="2590800"/>
            <a:ext cx="12992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Merge</a:t>
            </a:r>
          </a:p>
        </p:txBody>
      </p:sp>
      <p:sp>
        <p:nvSpPr>
          <p:cNvPr id="159" name="Weighted ensemble…"/>
          <p:cNvSpPr txBox="1"/>
          <p:nvPr/>
        </p:nvSpPr>
        <p:spPr>
          <a:xfrm>
            <a:off x="9218294" y="3095625"/>
            <a:ext cx="145161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Weighted ensemble</a:t>
            </a:r>
          </a:p>
          <a:p>
            <a:pPr algn="ctr"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of models</a:t>
            </a:r>
          </a:p>
        </p:txBody>
      </p:sp>
      <p:sp>
        <p:nvSpPr>
          <p:cNvPr id="160" name="Rectangle"/>
          <p:cNvSpPr/>
          <p:nvPr/>
        </p:nvSpPr>
        <p:spPr>
          <a:xfrm>
            <a:off x="781050" y="4876800"/>
            <a:ext cx="10210800" cy="55245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1" name="Output: One deployable model that preserves specialization while keeping raw traffic local"/>
          <p:cNvSpPr txBox="1"/>
          <p:nvPr/>
        </p:nvSpPr>
        <p:spPr>
          <a:xfrm>
            <a:off x="1169669" y="5057775"/>
            <a:ext cx="92430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Output: One deployable model that preserves specialization while keeping raw traffic local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5" name="02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6" name="FedMSE Baseline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FedMSE Baseline</a:t>
            </a:r>
          </a:p>
        </p:txBody>
      </p:sp>
      <p:sp>
        <p:nvSpPr>
          <p:cNvPr id="167" name="Strong reference point for comparison"/>
          <p:cNvSpPr txBox="1"/>
          <p:nvPr/>
        </p:nvSpPr>
        <p:spPr>
          <a:xfrm>
            <a:off x="2674619" y="3695700"/>
            <a:ext cx="63855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Strong reference point for comparison</a:t>
            </a:r>
          </a:p>
        </p:txBody>
      </p:sp>
      <p:sp>
        <p:nvSpPr>
          <p:cNvPr id="168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9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0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1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2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173" name="FedHome | 09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 txBox="1"/>
          <p:nvPr/>
        </p:nvSpPr>
        <p:spPr>
          <a:xfrm>
            <a:off x="554418" y="432102"/>
            <a:ext cx="73075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2A8A0"/>
                </a:solidFill>
              </a:defRPr>
            </a:lvl1pPr>
          </a:lstStyle>
          <a:p>
            <a:pPr/>
            <a:r>
              <a:t>THE BASELINE WE BUILD ON</a:t>
            </a:r>
          </a:p>
        </p:txBody>
      </p:sp>
      <p:sp>
        <p:nvSpPr>
          <p:cNvPr id="176" name="Text 1"/>
          <p:cNvSpPr txBox="1"/>
          <p:nvPr/>
        </p:nvSpPr>
        <p:spPr>
          <a:xfrm>
            <a:off x="554418" y="738658"/>
            <a:ext cx="110527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FedMSE: SAE-CEN + MSEAvg for robust Non-IID learning</a:t>
            </a:r>
          </a:p>
        </p:txBody>
      </p:sp>
      <p:sp>
        <p:nvSpPr>
          <p:cNvPr id="177" name="Text 2"/>
          <p:cNvSpPr txBox="1"/>
          <p:nvPr/>
        </p:nvSpPr>
        <p:spPr>
          <a:xfrm>
            <a:off x="554418" y="1382088"/>
            <a:ext cx="1050464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6B7280"/>
                </a:solidFill>
              </a:defRPr>
            </a:lvl1pPr>
          </a:lstStyle>
          <a:p>
            <a:pPr/>
            <a:r>
              <a:t>Combines a local anomaly detector with a quality-aware aggregation algorithm.</a:t>
            </a:r>
          </a:p>
        </p:txBody>
      </p:sp>
      <p:sp>
        <p:nvSpPr>
          <p:cNvPr id="178" name="Shape 3"/>
          <p:cNvSpPr/>
          <p:nvPr/>
        </p:nvSpPr>
        <p:spPr>
          <a:xfrm>
            <a:off x="554418" y="1784794"/>
            <a:ext cx="5389341" cy="3288412"/>
          </a:xfrm>
          <a:prstGeom prst="roundRect">
            <a:avLst>
              <a:gd name="adj" fmla="val 2501"/>
            </a:avLst>
          </a:prstGeom>
          <a:solidFill>
            <a:srgbClr val="F7F9FC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79" name="Shape 4"/>
          <p:cNvSpPr/>
          <p:nvPr/>
        </p:nvSpPr>
        <p:spPr>
          <a:xfrm>
            <a:off x="828452" y="2058828"/>
            <a:ext cx="502397" cy="502397"/>
          </a:xfrm>
          <a:prstGeom prst="ellipse">
            <a:avLst/>
          </a:prstGeom>
          <a:solidFill>
            <a:srgbClr val="12A8A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80" name="Text 5"/>
          <p:cNvSpPr txBox="1"/>
          <p:nvPr/>
        </p:nvSpPr>
        <p:spPr>
          <a:xfrm>
            <a:off x="828452" y="2189376"/>
            <a:ext cx="50239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1" name="Text 6"/>
          <p:cNvSpPr txBox="1"/>
          <p:nvPr/>
        </p:nvSpPr>
        <p:spPr>
          <a:xfrm>
            <a:off x="1513538" y="2189376"/>
            <a:ext cx="401916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SAE-CEN — Local Model</a:t>
            </a:r>
          </a:p>
        </p:txBody>
      </p:sp>
      <p:sp>
        <p:nvSpPr>
          <p:cNvPr id="182" name="Text 7"/>
          <p:cNvSpPr txBox="1"/>
          <p:nvPr/>
        </p:nvSpPr>
        <p:spPr>
          <a:xfrm>
            <a:off x="874125" y="2790961"/>
            <a:ext cx="474992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Shrink Autoencoder loss adds a latent-shrinkage term:</a:t>
            </a:r>
          </a:p>
        </p:txBody>
      </p:sp>
      <p:sp>
        <p:nvSpPr>
          <p:cNvPr id="183" name="Text 8"/>
          <p:cNvSpPr txBox="1"/>
          <p:nvPr/>
        </p:nvSpPr>
        <p:spPr>
          <a:xfrm>
            <a:off x="874125" y="3097000"/>
            <a:ext cx="4749928" cy="19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 = ⅓Σ‖xᵢ − x̂ᵢ‖² + λ·⅓Σ‖hᵢ‖²</a:t>
            </a:r>
          </a:p>
        </p:txBody>
      </p:sp>
      <p:sp>
        <p:nvSpPr>
          <p:cNvPr id="184" name="Text 9"/>
          <p:cNvSpPr txBox="1"/>
          <p:nvPr/>
        </p:nvSpPr>
        <p:spPr>
          <a:xfrm>
            <a:off x="874125" y="3880530"/>
            <a:ext cx="4749928" cy="55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100">
                <a:solidFill>
                  <a:srgbClr val="12A8A0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Pulls “normal” samples into a compact cluster in latent space</a:t>
            </a:r>
            <a:endParaRPr b="0">
              <a:solidFill>
                <a:srgbClr val="1B1F3B"/>
              </a:solidFill>
            </a:endParaRPr>
          </a:p>
          <a:p>
            <a:pPr>
              <a:lnSpc>
                <a:spcPct val="135000"/>
              </a:lnSpc>
              <a:defRPr b="1" sz="1100">
                <a:solidFill>
                  <a:srgbClr val="12A8A0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Centroid (CEN) detector: distance-to-centroid = anomaly score</a:t>
            </a:r>
            <a:endParaRPr b="0">
              <a:solidFill>
                <a:srgbClr val="1B1F3B"/>
              </a:solidFill>
            </a:endParaRPr>
          </a:p>
          <a:p>
            <a:pPr>
              <a:lnSpc>
                <a:spcPct val="135000"/>
              </a:lnSpc>
              <a:defRPr b="1" sz="1100">
                <a:solidFill>
                  <a:srgbClr val="12A8A0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No extra hyperparameters, negligible compute cost</a:t>
            </a:r>
          </a:p>
        </p:txBody>
      </p:sp>
      <p:sp>
        <p:nvSpPr>
          <p:cNvPr id="185" name="Shape 10"/>
          <p:cNvSpPr/>
          <p:nvPr/>
        </p:nvSpPr>
        <p:spPr>
          <a:xfrm>
            <a:off x="874125" y="4844843"/>
            <a:ext cx="4749928" cy="18270"/>
          </a:xfrm>
          <a:prstGeom prst="rect">
            <a:avLst/>
          </a:prstGeom>
          <a:solidFill>
            <a:srgbClr val="E4E8F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86" name="Text 11"/>
          <p:cNvSpPr txBox="1"/>
          <p:nvPr/>
        </p:nvSpPr>
        <p:spPr>
          <a:xfrm>
            <a:off x="874125" y="4685650"/>
            <a:ext cx="474992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i="1" sz="1100">
                <a:solidFill>
                  <a:srgbClr val="12A8A0"/>
                </a:solidFill>
              </a:defRPr>
            </a:lvl1pPr>
          </a:lstStyle>
          <a:p>
            <a:pPr/>
            <a:r>
              <a:t>Architecture: 115 → 50 → 11 (latent) → 50 → 115, ReLU / Sigmoid</a:t>
            </a:r>
          </a:p>
        </p:txBody>
      </p:sp>
      <p:sp>
        <p:nvSpPr>
          <p:cNvPr id="187" name="Shape 12"/>
          <p:cNvSpPr/>
          <p:nvPr/>
        </p:nvSpPr>
        <p:spPr>
          <a:xfrm>
            <a:off x="6172120" y="1784794"/>
            <a:ext cx="5462417" cy="3288412"/>
          </a:xfrm>
          <a:prstGeom prst="roundRect">
            <a:avLst>
              <a:gd name="adj" fmla="val 2501"/>
            </a:avLst>
          </a:prstGeom>
          <a:solidFill>
            <a:srgbClr val="1B1F3B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88" name="Shape 13"/>
          <p:cNvSpPr/>
          <p:nvPr/>
        </p:nvSpPr>
        <p:spPr>
          <a:xfrm>
            <a:off x="6446154" y="2058828"/>
            <a:ext cx="502398" cy="502397"/>
          </a:xfrm>
          <a:prstGeom prst="ellipse">
            <a:avLst/>
          </a:prstGeom>
          <a:solidFill>
            <a:srgbClr val="F4A261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89" name="Text 14"/>
          <p:cNvSpPr txBox="1"/>
          <p:nvPr/>
        </p:nvSpPr>
        <p:spPr>
          <a:xfrm>
            <a:off x="6446154" y="2189376"/>
            <a:ext cx="50239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0" name="Text 15"/>
          <p:cNvSpPr txBox="1"/>
          <p:nvPr/>
        </p:nvSpPr>
        <p:spPr>
          <a:xfrm>
            <a:off x="7131239" y="2189376"/>
            <a:ext cx="401917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MSEAvg — Aggregation</a:t>
            </a:r>
          </a:p>
        </p:txBody>
      </p:sp>
      <p:sp>
        <p:nvSpPr>
          <p:cNvPr id="191" name="Text 16"/>
          <p:cNvSpPr txBox="1"/>
          <p:nvPr/>
        </p:nvSpPr>
        <p:spPr>
          <a:xfrm>
            <a:off x="6491827" y="2790961"/>
            <a:ext cx="482300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Weights clients by model quality, not dataset size:</a:t>
            </a:r>
          </a:p>
        </p:txBody>
      </p:sp>
      <p:sp>
        <p:nvSpPr>
          <p:cNvPr id="192" name="Text 17"/>
          <p:cNvSpPr txBox="1"/>
          <p:nvPr/>
        </p:nvSpPr>
        <p:spPr>
          <a:xfrm>
            <a:off x="6491827" y="3107170"/>
            <a:ext cx="48230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5FC9C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αᵢ = 1 / MSEᵢ      W = ΣαᵢWᵢ / Σαᵢ</a:t>
            </a:r>
          </a:p>
        </p:txBody>
      </p:sp>
      <p:sp>
        <p:nvSpPr>
          <p:cNvPr id="193" name="Text 18"/>
          <p:cNvSpPr txBox="1"/>
          <p:nvPr/>
        </p:nvSpPr>
        <p:spPr>
          <a:xfrm>
            <a:off x="6491827" y="3880530"/>
            <a:ext cx="4823004" cy="55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1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CADCFC"/>
                </a:solidFill>
              </a:rPr>
              <a:t>Server holds a small shared dev set (normal traffic only)</a:t>
            </a:r>
            <a:endParaRPr b="0">
              <a:solidFill>
                <a:srgbClr val="CADCFC"/>
              </a:solidFill>
            </a:endParaRPr>
          </a:p>
          <a:p>
            <a:pPr>
              <a:lnSpc>
                <a:spcPct val="135000"/>
              </a:lnSpc>
              <a:defRPr b="1" sz="11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CADCFC"/>
                </a:solidFill>
              </a:rPr>
              <a:t>Better-reconstructing local models get more influence</a:t>
            </a:r>
            <a:endParaRPr b="0">
              <a:solidFill>
                <a:srgbClr val="CADCFC"/>
              </a:solidFill>
            </a:endParaRPr>
          </a:p>
          <a:p>
            <a:pPr>
              <a:lnSpc>
                <a:spcPct val="135000"/>
              </a:lnSpc>
              <a:defRPr b="1" sz="11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CADCFC"/>
                </a:solidFill>
              </a:rPr>
              <a:t>Quality-aware → robust to Non-IID heterogeneity (unlike FedAvg)</a:t>
            </a:r>
          </a:p>
        </p:txBody>
      </p:sp>
      <p:sp>
        <p:nvSpPr>
          <p:cNvPr id="194" name="Shape 19"/>
          <p:cNvSpPr/>
          <p:nvPr/>
        </p:nvSpPr>
        <p:spPr>
          <a:xfrm>
            <a:off x="6491827" y="4844843"/>
            <a:ext cx="4823004" cy="18270"/>
          </a:xfrm>
          <a:prstGeom prst="rect">
            <a:avLst/>
          </a:prstGeom>
          <a:solidFill>
            <a:srgbClr val="3A407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195" name="Text 21"/>
          <p:cNvSpPr txBox="1"/>
          <p:nvPr/>
        </p:nvSpPr>
        <p:spPr>
          <a:xfrm>
            <a:off x="463073" y="6599104"/>
            <a:ext cx="8221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FedHome  •  Big Data Analytics  •  Md. Raihan Sobhan</a:t>
            </a:r>
          </a:p>
        </p:txBody>
      </p:sp>
      <p:sp>
        <p:nvSpPr>
          <p:cNvPr id="196" name="Shape 12"/>
          <p:cNvSpPr/>
          <p:nvPr/>
        </p:nvSpPr>
        <p:spPr>
          <a:xfrm>
            <a:off x="554990" y="5415279"/>
            <a:ext cx="11091672" cy="868681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9AAFC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" name="Text 13"/>
          <p:cNvSpPr txBox="1"/>
          <p:nvPr/>
        </p:nvSpPr>
        <p:spPr>
          <a:xfrm>
            <a:off x="829310" y="5754940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Reported Result:  </a:t>
            </a:r>
            <a:r>
              <a:rPr b="0">
                <a:solidFill>
                  <a:srgbClr val="CFE7F0"/>
                </a:solidFill>
              </a:rPr>
              <a:t>93.98% → 97.30% AUC improvement in high Non-IID settings</a:t>
            </a:r>
          </a:p>
        </p:txBody>
      </p:sp>
      <p:sp>
        <p:nvSpPr>
          <p:cNvPr id="198" name="FedHome | 10"/>
          <p:cNvSpPr txBox="1"/>
          <p:nvPr/>
        </p:nvSpPr>
        <p:spPr>
          <a:xfrm>
            <a:off x="10237469" y="6419850"/>
            <a:ext cx="1337311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10967719" y="917019"/>
            <a:ext cx="127884" cy="127883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01" name="Shape 1"/>
          <p:cNvSpPr/>
          <p:nvPr/>
        </p:nvSpPr>
        <p:spPr>
          <a:xfrm>
            <a:off x="11515788" y="1556432"/>
            <a:ext cx="91346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02" name="Shape 2"/>
          <p:cNvSpPr/>
          <p:nvPr/>
        </p:nvSpPr>
        <p:spPr>
          <a:xfrm>
            <a:off x="645763" y="5758291"/>
            <a:ext cx="109614" cy="109614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03" name="Shape 3"/>
          <p:cNvSpPr/>
          <p:nvPr/>
        </p:nvSpPr>
        <p:spPr>
          <a:xfrm>
            <a:off x="1193831" y="6215014"/>
            <a:ext cx="91346" cy="91346"/>
          </a:xfrm>
          <a:prstGeom prst="ellipse">
            <a:avLst/>
          </a:prstGeom>
          <a:solidFill>
            <a:srgbClr val="12A8A0">
              <a:alpha val="45000"/>
            </a:srgbClr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04" name="Shape 4"/>
          <p:cNvSpPr/>
          <p:nvPr/>
        </p:nvSpPr>
        <p:spPr>
          <a:xfrm>
            <a:off x="828452" y="2332863"/>
            <a:ext cx="1370173" cy="1370172"/>
          </a:xfrm>
          <a:prstGeom prst="ellipse">
            <a:avLst/>
          </a:prstGeom>
          <a:solidFill>
            <a:srgbClr val="12A8A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05" name="Text 5"/>
          <p:cNvSpPr txBox="1"/>
          <p:nvPr/>
        </p:nvSpPr>
        <p:spPr>
          <a:xfrm>
            <a:off x="828452" y="2763948"/>
            <a:ext cx="1370173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2518330" y="2528464"/>
            <a:ext cx="822102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30" sz="1200">
                <a:solidFill>
                  <a:srgbClr val="5FC9C2"/>
                </a:solidFill>
              </a:defRPr>
            </a:lvl1pPr>
          </a:lstStyle>
          <a:p>
            <a:pPr/>
            <a:r>
              <a:t>PART THREE</a:t>
            </a:r>
          </a:p>
        </p:txBody>
      </p:sp>
      <p:sp>
        <p:nvSpPr>
          <p:cNvPr id="207" name="Text 7"/>
          <p:cNvSpPr txBox="1"/>
          <p:nvPr/>
        </p:nvSpPr>
        <p:spPr>
          <a:xfrm>
            <a:off x="2472658" y="2966909"/>
            <a:ext cx="895178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FedHome Proposed Architecture</a:t>
            </a:r>
          </a:p>
        </p:txBody>
      </p:sp>
      <p:sp>
        <p:nvSpPr>
          <p:cNvPr id="208" name="Text 8"/>
          <p:cNvSpPr txBox="1"/>
          <p:nvPr/>
        </p:nvSpPr>
        <p:spPr>
          <a:xfrm>
            <a:off x="2518330" y="3836716"/>
            <a:ext cx="858640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i="1" sz="1400">
                <a:solidFill>
                  <a:srgbClr val="CADCFC"/>
                </a:solidFill>
              </a:defRPr>
            </a:lvl1pPr>
          </a:lstStyle>
          <a:p>
            <a:pPr/>
            <a:r>
              <a:t>FedHome's proposed 4-phase clustering pipeline.</a:t>
            </a:r>
          </a:p>
        </p:txBody>
      </p:sp>
      <p:sp>
        <p:nvSpPr>
          <p:cNvPr id="209" name="Text 9"/>
          <p:cNvSpPr txBox="1"/>
          <p:nvPr/>
        </p:nvSpPr>
        <p:spPr>
          <a:xfrm>
            <a:off x="463073" y="6599104"/>
            <a:ext cx="8221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0B5"/>
                </a:solidFill>
              </a:defRPr>
            </a:lvl1pPr>
          </a:lstStyle>
          <a:p>
            <a:pPr/>
            <a:r>
              <a:t>FedHome  •  Big Data Analytics  •  Md. Raihan Sobhan</a:t>
            </a:r>
          </a:p>
        </p:txBody>
      </p:sp>
      <p:sp>
        <p:nvSpPr>
          <p:cNvPr id="210" name="Text 10"/>
          <p:cNvSpPr txBox="1"/>
          <p:nvPr/>
        </p:nvSpPr>
        <p:spPr>
          <a:xfrm>
            <a:off x="11451846" y="6599104"/>
            <a:ext cx="3653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8890B5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554990" y="378767"/>
            <a:ext cx="9144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OUR CONTRIBUTION</a:t>
            </a:r>
          </a:p>
        </p:txBody>
      </p:sp>
      <p:sp>
        <p:nvSpPr>
          <p:cNvPr id="213" name="Text 1"/>
          <p:cNvSpPr txBox="1"/>
          <p:nvPr/>
        </p:nvSpPr>
        <p:spPr>
          <a:xfrm>
            <a:off x="554989" y="704088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4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FedHome: Our Proposed Extension</a:t>
            </a:r>
          </a:p>
        </p:txBody>
      </p:sp>
      <p:sp>
        <p:nvSpPr>
          <p:cNvPr id="214" name="Text 2"/>
          <p:cNvSpPr txBox="1"/>
          <p:nvPr/>
        </p:nvSpPr>
        <p:spPr>
          <a:xfrm>
            <a:off x="554989" y="1551240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6B7A87"/>
                </a:solidFill>
              </a:defRPr>
            </a:lvl1pPr>
          </a:lstStyle>
          <a:p>
            <a:pPr/>
            <a:r>
              <a:t>FedHome extends FedMSE by introducing a device-type-aware clustering layer before federation.</a:t>
            </a:r>
          </a:p>
        </p:txBody>
      </p:sp>
      <p:graphicFrame>
        <p:nvGraphicFramePr>
          <p:cNvPr id="215" name="Table 0"/>
          <p:cNvGraphicFramePr/>
          <p:nvPr/>
        </p:nvGraphicFramePr>
        <p:xfrm>
          <a:off x="554990" y="2057400"/>
          <a:ext cx="7406641" cy="28346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57027"/>
                <a:gridCol w="2465705"/>
                <a:gridCol w="2374382"/>
              </a:tblGrid>
              <a:tr h="56502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Calibri"/>
                        </a:rPr>
                        <a:t>Aspect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Calibri"/>
                        </a:rPr>
                        <a:t>FedMSE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Calibri"/>
                        </a:rPr>
                        <a:t>FedHome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1C7293"/>
                    </a:solidFill>
                  </a:tcPr>
                </a:tc>
              </a:tr>
              <a:tr h="56502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Gateway Selection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Random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65A82"/>
                          </a:solidFill>
                          <a:sym typeface="Calibri"/>
                        </a:rPr>
                        <a:t>Cluster-aware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02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Model Specialization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Single global model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65A82"/>
                          </a:solidFill>
                          <a:sym typeface="Calibri"/>
                        </a:rPr>
                        <a:t>Per-cluster specialized models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</a:tr>
              <a:tr h="56502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Device-Type Signal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Ignored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65A82"/>
                          </a:solidFill>
                          <a:sym typeface="Calibri"/>
                        </a:rPr>
                        <a:t>Used for clustering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02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Non-IID Robustness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2433"/>
                          </a:solidFill>
                          <a:sym typeface="Calibri"/>
                        </a:rPr>
                        <a:t>Moderate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65A82"/>
                          </a:solidFill>
                          <a:sym typeface="Calibri"/>
                        </a:rPr>
                        <a:t>High (by design)</a:t>
                      </a:r>
                    </a:p>
                  </a:txBody>
                  <a:tcPr marL="45720" marR="45720" marT="45720" marB="45720" anchor="ctr" anchorCtr="0" horzOverflow="overflow">
                    <a:lnL w="3175">
                      <a:solidFill>
                        <a:srgbClr val="C7DCE6"/>
                      </a:solidFill>
                    </a:lnL>
                    <a:lnR w="3175">
                      <a:solidFill>
                        <a:srgbClr val="C7DCE6"/>
                      </a:solidFill>
                    </a:lnR>
                    <a:lnT w="3175">
                      <a:solidFill>
                        <a:srgbClr val="C7DCE6"/>
                      </a:solidFill>
                    </a:lnT>
                    <a:lnB w="3175">
                      <a:solidFill>
                        <a:srgbClr val="C7DCE6"/>
                      </a:solidFill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216" name="Shape 3"/>
          <p:cNvSpPr/>
          <p:nvPr/>
        </p:nvSpPr>
        <p:spPr>
          <a:xfrm>
            <a:off x="8190230" y="2057400"/>
            <a:ext cx="3456433" cy="292608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9AAFC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Text 4"/>
          <p:cNvSpPr txBox="1"/>
          <p:nvPr/>
        </p:nvSpPr>
        <p:spPr>
          <a:xfrm>
            <a:off x="8418830" y="2356026"/>
            <a:ext cx="3017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8FD3E8"/>
                </a:solidFill>
              </a:defRPr>
            </a:lvl1pPr>
          </a:lstStyle>
          <a:p>
            <a:pPr/>
            <a:r>
              <a:t>KEY INNOVATION</a:t>
            </a:r>
          </a:p>
        </p:txBody>
      </p:sp>
      <p:sp>
        <p:nvSpPr>
          <p:cNvPr id="218" name="Text 5"/>
          <p:cNvSpPr txBox="1"/>
          <p:nvPr/>
        </p:nvSpPr>
        <p:spPr>
          <a:xfrm>
            <a:off x="8418830" y="2651760"/>
            <a:ext cx="3017521" cy="1045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Using privacy-safe device-type distribution vectors ,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not raw traffic , 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as the clustering signal.</a:t>
            </a:r>
          </a:p>
        </p:txBody>
      </p:sp>
      <p:sp>
        <p:nvSpPr>
          <p:cNvPr id="219" name="Text 6"/>
          <p:cNvSpPr txBox="1"/>
          <p:nvPr/>
        </p:nvSpPr>
        <p:spPr>
          <a:xfrm>
            <a:off x="463550" y="6611620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A87"/>
                </a:solidFill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220" name="Text 7"/>
          <p:cNvSpPr txBox="1"/>
          <p:nvPr/>
        </p:nvSpPr>
        <p:spPr>
          <a:xfrm>
            <a:off x="9424669" y="6611620"/>
            <a:ext cx="23134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A87"/>
                </a:solidFill>
              </a:defRPr>
            </a:lvl1pPr>
          </a:lstStyle>
          <a:p>
            <a:pPr/>
            <a:r>
              <a:t>FedHome  |  5 / 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 txBox="1"/>
          <p:nvPr/>
        </p:nvSpPr>
        <p:spPr>
          <a:xfrm>
            <a:off x="554418" y="432102"/>
            <a:ext cx="73075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2A8A0"/>
                </a:solidFill>
              </a:defRPr>
            </a:lvl1pPr>
          </a:lstStyle>
          <a:p>
            <a:pPr/>
            <a:r>
              <a:t>SYSTEM DESIGN</a:t>
            </a:r>
          </a:p>
        </p:txBody>
      </p:sp>
      <p:sp>
        <p:nvSpPr>
          <p:cNvPr id="223" name="Text 1"/>
          <p:cNvSpPr txBox="1"/>
          <p:nvPr/>
        </p:nvSpPr>
        <p:spPr>
          <a:xfrm>
            <a:off x="554418" y="738658"/>
            <a:ext cx="110527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FedHome 4-Phase Architecture</a:t>
            </a:r>
          </a:p>
        </p:txBody>
      </p:sp>
      <p:sp>
        <p:nvSpPr>
          <p:cNvPr id="224" name="Shape 2"/>
          <p:cNvSpPr/>
          <p:nvPr/>
        </p:nvSpPr>
        <p:spPr>
          <a:xfrm>
            <a:off x="554418" y="1876139"/>
            <a:ext cx="2603326" cy="324274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3175">
            <a:miter lim="400000"/>
          </a:ln>
          <a:effectLst>
            <a:outerShdw sx="100000" sy="100000" kx="0" ky="0" algn="b" rotWithShape="0" blurRad="63500" dist="12700" dir="5400000">
              <a:srgbClr val="1B1F3B">
                <a:alpha val="10000"/>
              </a:srgbClr>
            </a:outerShdw>
          </a:effectLst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25" name="Shape 3"/>
          <p:cNvSpPr/>
          <p:nvPr/>
        </p:nvSpPr>
        <p:spPr>
          <a:xfrm>
            <a:off x="1536374" y="2150173"/>
            <a:ext cx="639414" cy="639414"/>
          </a:xfrm>
          <a:prstGeom prst="ellipse">
            <a:avLst/>
          </a:prstGeom>
          <a:solidFill>
            <a:srgbClr val="12A8A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26" name="Text 4"/>
          <p:cNvSpPr txBox="1"/>
          <p:nvPr/>
        </p:nvSpPr>
        <p:spPr>
          <a:xfrm>
            <a:off x="1536374" y="2323830"/>
            <a:ext cx="6394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" name="Text 5"/>
          <p:cNvSpPr txBox="1"/>
          <p:nvPr/>
        </p:nvSpPr>
        <p:spPr>
          <a:xfrm>
            <a:off x="691435" y="3152211"/>
            <a:ext cx="2329292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Device-Type</a:t>
            </a:r>
          </a:p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Profiling</a:t>
            </a:r>
          </a:p>
        </p:txBody>
      </p:sp>
      <p:sp>
        <p:nvSpPr>
          <p:cNvPr id="228" name="Text 6"/>
          <p:cNvSpPr txBox="1"/>
          <p:nvPr/>
        </p:nvSpPr>
        <p:spPr>
          <a:xfrm>
            <a:off x="737107" y="4080275"/>
            <a:ext cx="2237948" cy="859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dᵢ = [p₁, ..., pₖ]  </a:t>
            </a:r>
          </a:p>
          <a:p>
            <a: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proportion of traffic per device class, reported per gateway</a:t>
            </a:r>
          </a:p>
        </p:txBody>
      </p:sp>
      <p:sp>
        <p:nvSpPr>
          <p:cNvPr id="229" name="Shape 7"/>
          <p:cNvSpPr/>
          <p:nvPr/>
        </p:nvSpPr>
        <p:spPr>
          <a:xfrm rot="5400000">
            <a:off x="3176012" y="3387894"/>
            <a:ext cx="219229" cy="219229"/>
          </a:xfrm>
          <a:prstGeom prst="triangle">
            <a:avLst/>
          </a:prstGeom>
          <a:solidFill>
            <a:srgbClr val="B9C0DE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0" name="Shape 8"/>
          <p:cNvSpPr/>
          <p:nvPr/>
        </p:nvSpPr>
        <p:spPr>
          <a:xfrm>
            <a:off x="3413509" y="1876139"/>
            <a:ext cx="2603326" cy="324274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3175">
            <a:miter lim="400000"/>
          </a:ln>
          <a:effectLst>
            <a:outerShdw sx="100000" sy="100000" kx="0" ky="0" algn="b" rotWithShape="0" blurRad="63500" dist="12700" dir="5400000">
              <a:srgbClr val="1B1F3B">
                <a:alpha val="10000"/>
              </a:srgbClr>
            </a:outerShdw>
          </a:effectLst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1" name="Shape 9"/>
          <p:cNvSpPr/>
          <p:nvPr/>
        </p:nvSpPr>
        <p:spPr>
          <a:xfrm>
            <a:off x="4395465" y="2150173"/>
            <a:ext cx="639414" cy="639414"/>
          </a:xfrm>
          <a:prstGeom prst="ellipse">
            <a:avLst/>
          </a:prstGeom>
          <a:solidFill>
            <a:srgbClr val="3FB8AE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2" name="Text 10"/>
          <p:cNvSpPr txBox="1"/>
          <p:nvPr/>
        </p:nvSpPr>
        <p:spPr>
          <a:xfrm>
            <a:off x="4395465" y="2323830"/>
            <a:ext cx="6394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3" name="Text 11"/>
          <p:cNvSpPr txBox="1"/>
          <p:nvPr/>
        </p:nvSpPr>
        <p:spPr>
          <a:xfrm>
            <a:off x="3550525" y="3152211"/>
            <a:ext cx="2329293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JS-Divergence</a:t>
            </a:r>
          </a:p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Clustering</a:t>
            </a:r>
          </a:p>
        </p:txBody>
      </p:sp>
      <p:sp>
        <p:nvSpPr>
          <p:cNvPr id="234" name="Text 12"/>
          <p:cNvSpPr txBox="1"/>
          <p:nvPr/>
        </p:nvSpPr>
        <p:spPr>
          <a:xfrm>
            <a:off x="3596198" y="4179767"/>
            <a:ext cx="2237948" cy="6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D[i,j] = JS(dᵢ ‖ dⱼ) </a:t>
            </a:r>
          </a:p>
          <a:p>
            <a: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Ward hierarchical clustering into C groups</a:t>
            </a:r>
          </a:p>
        </p:txBody>
      </p:sp>
      <p:sp>
        <p:nvSpPr>
          <p:cNvPr id="235" name="Shape 13"/>
          <p:cNvSpPr/>
          <p:nvPr/>
        </p:nvSpPr>
        <p:spPr>
          <a:xfrm rot="5400000">
            <a:off x="6035103" y="3387894"/>
            <a:ext cx="219229" cy="219229"/>
          </a:xfrm>
          <a:prstGeom prst="triangle">
            <a:avLst/>
          </a:prstGeom>
          <a:solidFill>
            <a:srgbClr val="B9C0DE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6" name="Shape 14"/>
          <p:cNvSpPr/>
          <p:nvPr/>
        </p:nvSpPr>
        <p:spPr>
          <a:xfrm>
            <a:off x="6272600" y="1876139"/>
            <a:ext cx="2603326" cy="324274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3175">
            <a:miter lim="400000"/>
          </a:ln>
          <a:effectLst>
            <a:outerShdw sx="100000" sy="100000" kx="0" ky="0" algn="b" rotWithShape="0" blurRad="63500" dist="12700" dir="5400000">
              <a:srgbClr val="1B1F3B">
                <a:alpha val="10000"/>
              </a:srgbClr>
            </a:outerShdw>
          </a:effectLst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7" name="Shape 15"/>
          <p:cNvSpPr/>
          <p:nvPr/>
        </p:nvSpPr>
        <p:spPr>
          <a:xfrm>
            <a:off x="7254555" y="2150173"/>
            <a:ext cx="639414" cy="639414"/>
          </a:xfrm>
          <a:prstGeom prst="ellipse">
            <a:avLst/>
          </a:prstGeom>
          <a:solidFill>
            <a:srgbClr val="F4A261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38" name="Text 16"/>
          <p:cNvSpPr txBox="1"/>
          <p:nvPr/>
        </p:nvSpPr>
        <p:spPr>
          <a:xfrm>
            <a:off x="7254555" y="2323830"/>
            <a:ext cx="6394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9" name="Text 17"/>
          <p:cNvSpPr txBox="1"/>
          <p:nvPr/>
        </p:nvSpPr>
        <p:spPr>
          <a:xfrm>
            <a:off x="6409616" y="3152211"/>
            <a:ext cx="2329293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Cluster-Aware</a:t>
            </a:r>
          </a:p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FL</a:t>
            </a:r>
          </a:p>
        </p:txBody>
      </p:sp>
      <p:sp>
        <p:nvSpPr>
          <p:cNvPr id="240" name="Text 18"/>
          <p:cNvSpPr txBox="1"/>
          <p:nvPr/>
        </p:nvSpPr>
        <p:spPr>
          <a:xfrm>
            <a:off x="6455289" y="4198842"/>
            <a:ext cx="223794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Run FedMSE independently within each cluster → specialized model Mᶜ</a:t>
            </a:r>
          </a:p>
        </p:txBody>
      </p:sp>
      <p:sp>
        <p:nvSpPr>
          <p:cNvPr id="241" name="Shape 19"/>
          <p:cNvSpPr/>
          <p:nvPr/>
        </p:nvSpPr>
        <p:spPr>
          <a:xfrm rot="5400000">
            <a:off x="8894194" y="3387894"/>
            <a:ext cx="219229" cy="219229"/>
          </a:xfrm>
          <a:prstGeom prst="triangle">
            <a:avLst/>
          </a:prstGeom>
          <a:solidFill>
            <a:srgbClr val="B9C0DE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42" name="Shape 20"/>
          <p:cNvSpPr/>
          <p:nvPr/>
        </p:nvSpPr>
        <p:spPr>
          <a:xfrm>
            <a:off x="9131690" y="1952339"/>
            <a:ext cx="2603327" cy="324274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3175">
            <a:miter lim="400000"/>
          </a:ln>
          <a:effectLst>
            <a:outerShdw sx="100000" sy="100000" kx="0" ky="0" algn="b" rotWithShape="0" blurRad="63500" dist="12700" dir="5400000">
              <a:srgbClr val="1B1F3B">
                <a:alpha val="10000"/>
              </a:srgbClr>
            </a:outerShdw>
          </a:effectLst>
        </p:spPr>
        <p:txBody>
          <a:bodyPr lIns="45672" tIns="45672" rIns="45672" bIns="45672"/>
          <a:lstStyle/>
          <a:p>
            <a:pPr>
              <a:defRPr sz="2200"/>
            </a:pPr>
          </a:p>
        </p:txBody>
      </p:sp>
      <p:sp>
        <p:nvSpPr>
          <p:cNvPr id="243" name="Shape 21"/>
          <p:cNvSpPr/>
          <p:nvPr/>
        </p:nvSpPr>
        <p:spPr>
          <a:xfrm>
            <a:off x="10113646" y="2150173"/>
            <a:ext cx="639414" cy="639414"/>
          </a:xfrm>
          <a:prstGeom prst="ellipse">
            <a:avLst/>
          </a:prstGeom>
          <a:solidFill>
            <a:srgbClr val="E76F51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44" name="Text 22"/>
          <p:cNvSpPr txBox="1"/>
          <p:nvPr/>
        </p:nvSpPr>
        <p:spPr>
          <a:xfrm>
            <a:off x="10113646" y="2323830"/>
            <a:ext cx="6394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5" name="Text 23"/>
          <p:cNvSpPr txBox="1"/>
          <p:nvPr/>
        </p:nvSpPr>
        <p:spPr>
          <a:xfrm>
            <a:off x="9268707" y="3152211"/>
            <a:ext cx="2329293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Ensemble</a:t>
            </a:r>
          </a:p>
          <a:p>
            <a:pPr algn="ctr">
              <a:lnSpc>
                <a:spcPct val="104999"/>
              </a:lnSpc>
              <a:defRPr sz="1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Merge</a:t>
            </a:r>
          </a:p>
        </p:txBody>
      </p:sp>
      <p:sp>
        <p:nvSpPr>
          <p:cNvPr id="246" name="Text 24"/>
          <p:cNvSpPr txBox="1"/>
          <p:nvPr/>
        </p:nvSpPr>
        <p:spPr>
          <a:xfrm>
            <a:off x="9314380" y="4305055"/>
            <a:ext cx="2237947" cy="40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M_global = Σ wᶜ·Mᶜ,  wᶜ ∝ 1/MSE(Mᶜ, D_dev)</a:t>
            </a:r>
          </a:p>
        </p:txBody>
      </p:sp>
      <p:sp>
        <p:nvSpPr>
          <p:cNvPr id="247" name="Shape 25"/>
          <p:cNvSpPr/>
          <p:nvPr/>
        </p:nvSpPr>
        <p:spPr>
          <a:xfrm>
            <a:off x="554418" y="5347239"/>
            <a:ext cx="11098388" cy="685087"/>
          </a:xfrm>
          <a:prstGeom prst="roundRect">
            <a:avLst>
              <a:gd name="adj" fmla="val 10667"/>
            </a:avLst>
          </a:prstGeom>
          <a:solidFill>
            <a:srgbClr val="1B1F3B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48" name="Text 26"/>
          <p:cNvSpPr txBox="1"/>
          <p:nvPr/>
        </p:nvSpPr>
        <p:spPr>
          <a:xfrm>
            <a:off x="828452" y="5611350"/>
            <a:ext cx="1059599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CADCFC"/>
                </a:solidFill>
              </a:defRPr>
            </a:lvl1pPr>
          </a:lstStyle>
          <a:p>
            <a:pPr/>
            <a:r>
              <a:t>Output: per-cluster specialized anomaly detectors + one quality-weighted global ensemble,  all without any gateway sharing raw traffic.</a:t>
            </a:r>
          </a:p>
        </p:txBody>
      </p:sp>
      <p:sp>
        <p:nvSpPr>
          <p:cNvPr id="249" name="Text 27"/>
          <p:cNvSpPr txBox="1"/>
          <p:nvPr/>
        </p:nvSpPr>
        <p:spPr>
          <a:xfrm>
            <a:off x="463073" y="6599104"/>
            <a:ext cx="8221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FedHome  •  Big Data Analytics  •  Md. Raihan Sobhan</a:t>
            </a:r>
          </a:p>
        </p:txBody>
      </p:sp>
      <p:sp>
        <p:nvSpPr>
          <p:cNvPr id="250" name="Text 28"/>
          <p:cNvSpPr txBox="1"/>
          <p:nvPr/>
        </p:nvSpPr>
        <p:spPr>
          <a:xfrm>
            <a:off x="11451846" y="6599104"/>
            <a:ext cx="3653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1"/>
          <p:cNvSpPr txBox="1"/>
          <p:nvPr/>
        </p:nvSpPr>
        <p:spPr>
          <a:xfrm>
            <a:off x="554418" y="738658"/>
            <a:ext cx="1105271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Device-Type Profiling + JS-Divergence Clustering</a:t>
            </a:r>
          </a:p>
        </p:txBody>
      </p:sp>
      <p:sp>
        <p:nvSpPr>
          <p:cNvPr id="253" name="Shape 2"/>
          <p:cNvSpPr/>
          <p:nvPr/>
        </p:nvSpPr>
        <p:spPr>
          <a:xfrm>
            <a:off x="554418" y="1510760"/>
            <a:ext cx="5435014" cy="2146602"/>
          </a:xfrm>
          <a:prstGeom prst="roundRect">
            <a:avLst>
              <a:gd name="adj" fmla="val 3830"/>
            </a:avLst>
          </a:prstGeom>
          <a:solidFill>
            <a:srgbClr val="F7F9FC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54" name="Text 3"/>
          <p:cNvSpPr txBox="1"/>
          <p:nvPr/>
        </p:nvSpPr>
        <p:spPr>
          <a:xfrm>
            <a:off x="828452" y="1786169"/>
            <a:ext cx="49326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20" sz="1100">
                <a:solidFill>
                  <a:srgbClr val="12A8A0"/>
                </a:solidFill>
              </a:defRPr>
            </a:lvl1pPr>
          </a:lstStyle>
          <a:p>
            <a:pPr/>
            <a:r>
              <a:t>PHASE 1 : Profiling</a:t>
            </a:r>
          </a:p>
        </p:txBody>
      </p:sp>
      <p:sp>
        <p:nvSpPr>
          <p:cNvPr id="255" name="Text 4"/>
          <p:cNvSpPr txBox="1"/>
          <p:nvPr/>
        </p:nvSpPr>
        <p:spPr>
          <a:xfrm>
            <a:off x="828452" y="2124079"/>
            <a:ext cx="4932618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Each gateway reports a privacy-safe device-mix vector — no raw packets, no timestamps, no content.</a:t>
            </a:r>
          </a:p>
        </p:txBody>
      </p:sp>
      <p:sp>
        <p:nvSpPr>
          <p:cNvPr id="256" name="Text 5"/>
          <p:cNvSpPr txBox="1"/>
          <p:nvPr/>
        </p:nvSpPr>
        <p:spPr>
          <a:xfrm>
            <a:off x="828452" y="2766723"/>
            <a:ext cx="68508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B1F3B"/>
                </a:solidFill>
              </a:defRPr>
            </a:lvl1pPr>
          </a:lstStyle>
          <a:p>
            <a:pPr/>
            <a:r>
              <a:t>GW</a:t>
            </a:r>
          </a:p>
        </p:txBody>
      </p:sp>
      <p:sp>
        <p:nvSpPr>
          <p:cNvPr id="257" name="Text 6"/>
          <p:cNvSpPr txBox="1"/>
          <p:nvPr/>
        </p:nvSpPr>
        <p:spPr>
          <a:xfrm>
            <a:off x="1513538" y="2766723"/>
            <a:ext cx="100479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B1F3B"/>
                </a:solidFill>
              </a:defRPr>
            </a:lvl1pPr>
          </a:lstStyle>
          <a:p>
            <a:pPr/>
            <a:r>
              <a:t>Cam</a:t>
            </a:r>
          </a:p>
        </p:txBody>
      </p:sp>
      <p:sp>
        <p:nvSpPr>
          <p:cNvPr id="258" name="Text 7"/>
          <p:cNvSpPr txBox="1"/>
          <p:nvPr/>
        </p:nvSpPr>
        <p:spPr>
          <a:xfrm>
            <a:off x="2518330" y="2766723"/>
            <a:ext cx="100479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B1F3B"/>
                </a:solidFill>
              </a:defRPr>
            </a:lvl1pPr>
          </a:lstStyle>
          <a:p>
            <a:pPr/>
            <a:r>
              <a:t>Door</a:t>
            </a:r>
          </a:p>
        </p:txBody>
      </p:sp>
      <p:sp>
        <p:nvSpPr>
          <p:cNvPr id="259" name="Text 8"/>
          <p:cNvSpPr txBox="1"/>
          <p:nvPr/>
        </p:nvSpPr>
        <p:spPr>
          <a:xfrm>
            <a:off x="3523122" y="2766723"/>
            <a:ext cx="100479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B1F3B"/>
                </a:solidFill>
              </a:defRPr>
            </a:lvl1pPr>
          </a:lstStyle>
          <a:p>
            <a:pPr/>
            <a:r>
              <a:t>Therm</a:t>
            </a:r>
          </a:p>
        </p:txBody>
      </p:sp>
      <p:sp>
        <p:nvSpPr>
          <p:cNvPr id="260" name="Text 9"/>
          <p:cNvSpPr txBox="1"/>
          <p:nvPr/>
        </p:nvSpPr>
        <p:spPr>
          <a:xfrm>
            <a:off x="4527915" y="2766723"/>
            <a:ext cx="100479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B1F3B"/>
                </a:solidFill>
              </a:defRPr>
            </a:lvl1pPr>
          </a:lstStyle>
          <a:p>
            <a:pPr/>
            <a:r>
              <a:t>Baby</a:t>
            </a:r>
          </a:p>
        </p:txBody>
      </p:sp>
      <p:sp>
        <p:nvSpPr>
          <p:cNvPr id="261" name="Text 10"/>
          <p:cNvSpPr txBox="1"/>
          <p:nvPr/>
        </p:nvSpPr>
        <p:spPr>
          <a:xfrm>
            <a:off x="828452" y="3048577"/>
            <a:ext cx="6850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2A8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G1</a:t>
            </a:r>
          </a:p>
        </p:txBody>
      </p:sp>
      <p:sp>
        <p:nvSpPr>
          <p:cNvPr id="262" name="Text 11"/>
          <p:cNvSpPr txBox="1"/>
          <p:nvPr/>
        </p:nvSpPr>
        <p:spPr>
          <a:xfrm>
            <a:off x="1513538" y="3048577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0.70</a:t>
            </a:r>
          </a:p>
        </p:txBody>
      </p:sp>
      <p:sp>
        <p:nvSpPr>
          <p:cNvPr id="263" name="Text 12"/>
          <p:cNvSpPr txBox="1"/>
          <p:nvPr/>
        </p:nvSpPr>
        <p:spPr>
          <a:xfrm>
            <a:off x="2518330" y="3048577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0.20</a:t>
            </a:r>
          </a:p>
        </p:txBody>
      </p:sp>
      <p:sp>
        <p:nvSpPr>
          <p:cNvPr id="264" name="Text 13"/>
          <p:cNvSpPr txBox="1"/>
          <p:nvPr/>
        </p:nvSpPr>
        <p:spPr>
          <a:xfrm>
            <a:off x="3523122" y="3048577"/>
            <a:ext cx="10047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265" name="Text 14"/>
          <p:cNvSpPr txBox="1"/>
          <p:nvPr/>
        </p:nvSpPr>
        <p:spPr>
          <a:xfrm>
            <a:off x="4527915" y="3048577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266" name="Text 15"/>
          <p:cNvSpPr txBox="1"/>
          <p:nvPr/>
        </p:nvSpPr>
        <p:spPr>
          <a:xfrm>
            <a:off x="828452" y="3304342"/>
            <a:ext cx="6850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2A8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G2</a:t>
            </a:r>
          </a:p>
        </p:txBody>
      </p:sp>
      <p:sp>
        <p:nvSpPr>
          <p:cNvPr id="267" name="Text 16"/>
          <p:cNvSpPr txBox="1"/>
          <p:nvPr/>
        </p:nvSpPr>
        <p:spPr>
          <a:xfrm>
            <a:off x="1513538" y="3304342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0.10</a:t>
            </a:r>
          </a:p>
        </p:txBody>
      </p:sp>
      <p:sp>
        <p:nvSpPr>
          <p:cNvPr id="268" name="Text 17"/>
          <p:cNvSpPr txBox="1"/>
          <p:nvPr/>
        </p:nvSpPr>
        <p:spPr>
          <a:xfrm>
            <a:off x="2518330" y="3304342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0.10</a:t>
            </a:r>
          </a:p>
        </p:txBody>
      </p:sp>
      <p:sp>
        <p:nvSpPr>
          <p:cNvPr id="269" name="Text 18"/>
          <p:cNvSpPr txBox="1"/>
          <p:nvPr/>
        </p:nvSpPr>
        <p:spPr>
          <a:xfrm>
            <a:off x="3523122" y="3304342"/>
            <a:ext cx="10047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0.70</a:t>
            </a:r>
          </a:p>
        </p:txBody>
      </p:sp>
      <p:sp>
        <p:nvSpPr>
          <p:cNvPr id="270" name="Text 19"/>
          <p:cNvSpPr txBox="1"/>
          <p:nvPr/>
        </p:nvSpPr>
        <p:spPr>
          <a:xfrm>
            <a:off x="4527915" y="3304342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0.10</a:t>
            </a:r>
          </a:p>
        </p:txBody>
      </p:sp>
      <p:sp>
        <p:nvSpPr>
          <p:cNvPr id="271" name="Text 20"/>
          <p:cNvSpPr txBox="1"/>
          <p:nvPr/>
        </p:nvSpPr>
        <p:spPr>
          <a:xfrm>
            <a:off x="828452" y="3560108"/>
            <a:ext cx="68508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2A8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G3</a:t>
            </a:r>
          </a:p>
        </p:txBody>
      </p:sp>
      <p:sp>
        <p:nvSpPr>
          <p:cNvPr id="272" name="Text 21"/>
          <p:cNvSpPr txBox="1"/>
          <p:nvPr/>
        </p:nvSpPr>
        <p:spPr>
          <a:xfrm>
            <a:off x="1513538" y="3560108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273" name="Text 22"/>
          <p:cNvSpPr txBox="1"/>
          <p:nvPr/>
        </p:nvSpPr>
        <p:spPr>
          <a:xfrm>
            <a:off x="2518330" y="3560108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274" name="Text 23"/>
          <p:cNvSpPr txBox="1"/>
          <p:nvPr/>
        </p:nvSpPr>
        <p:spPr>
          <a:xfrm>
            <a:off x="3523122" y="3560108"/>
            <a:ext cx="10047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0.10</a:t>
            </a:r>
          </a:p>
        </p:txBody>
      </p:sp>
      <p:sp>
        <p:nvSpPr>
          <p:cNvPr id="275" name="Text 24"/>
          <p:cNvSpPr txBox="1"/>
          <p:nvPr/>
        </p:nvSpPr>
        <p:spPr>
          <a:xfrm>
            <a:off x="4527915" y="3560108"/>
            <a:ext cx="1004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0.80</a:t>
            </a:r>
          </a:p>
        </p:txBody>
      </p:sp>
      <p:sp>
        <p:nvSpPr>
          <p:cNvPr id="276" name="Shape 25"/>
          <p:cNvSpPr/>
          <p:nvPr/>
        </p:nvSpPr>
        <p:spPr>
          <a:xfrm>
            <a:off x="554418" y="3794378"/>
            <a:ext cx="5435014" cy="2146603"/>
          </a:xfrm>
          <a:prstGeom prst="roundRect">
            <a:avLst>
              <a:gd name="adj" fmla="val 3830"/>
            </a:avLst>
          </a:prstGeom>
          <a:solidFill>
            <a:srgbClr val="1B1F3B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77" name="Text 26"/>
          <p:cNvSpPr txBox="1"/>
          <p:nvPr/>
        </p:nvSpPr>
        <p:spPr>
          <a:xfrm>
            <a:off x="828452" y="4069788"/>
            <a:ext cx="49326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20" sz="1100">
                <a:solidFill>
                  <a:srgbClr val="5FC9C2"/>
                </a:solidFill>
              </a:defRPr>
            </a:lvl1pPr>
          </a:lstStyle>
          <a:p>
            <a:pPr/>
            <a:r>
              <a:t>N-BaIoT DEVICE TYPES (9 CLASSES)</a:t>
            </a:r>
          </a:p>
        </p:txBody>
      </p:sp>
      <p:sp>
        <p:nvSpPr>
          <p:cNvPr id="278" name="Text 27"/>
          <p:cNvSpPr txBox="1"/>
          <p:nvPr/>
        </p:nvSpPr>
        <p:spPr>
          <a:xfrm>
            <a:off x="828452" y="4397695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Danmini Doorbell</a:t>
            </a:r>
          </a:p>
        </p:txBody>
      </p:sp>
      <p:sp>
        <p:nvSpPr>
          <p:cNvPr id="279" name="Text 28"/>
          <p:cNvSpPr txBox="1"/>
          <p:nvPr/>
        </p:nvSpPr>
        <p:spPr>
          <a:xfrm>
            <a:off x="3523122" y="4397695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Ecobee Thermostat</a:t>
            </a:r>
          </a:p>
        </p:txBody>
      </p:sp>
      <p:sp>
        <p:nvSpPr>
          <p:cNvPr id="280" name="Text 29"/>
          <p:cNvSpPr txBox="1"/>
          <p:nvPr/>
        </p:nvSpPr>
        <p:spPr>
          <a:xfrm>
            <a:off x="828452" y="4708267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Philips Baby Monitor</a:t>
            </a:r>
          </a:p>
        </p:txBody>
      </p:sp>
      <p:sp>
        <p:nvSpPr>
          <p:cNvPr id="281" name="Text 30"/>
          <p:cNvSpPr txBox="1"/>
          <p:nvPr/>
        </p:nvSpPr>
        <p:spPr>
          <a:xfrm>
            <a:off x="3523122" y="4708267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Provision PT-737E Cam</a:t>
            </a:r>
          </a:p>
        </p:txBody>
      </p:sp>
      <p:sp>
        <p:nvSpPr>
          <p:cNvPr id="282" name="Text 31"/>
          <p:cNvSpPr txBox="1"/>
          <p:nvPr/>
        </p:nvSpPr>
        <p:spPr>
          <a:xfrm>
            <a:off x="828452" y="5018839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Provision PT-838 Cam</a:t>
            </a:r>
          </a:p>
        </p:txBody>
      </p:sp>
      <p:sp>
        <p:nvSpPr>
          <p:cNvPr id="283" name="Text 32"/>
          <p:cNvSpPr txBox="1"/>
          <p:nvPr/>
        </p:nvSpPr>
        <p:spPr>
          <a:xfrm>
            <a:off x="3523122" y="5018839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Samsung SNH-1011-N Webcam</a:t>
            </a:r>
          </a:p>
        </p:txBody>
      </p:sp>
      <p:sp>
        <p:nvSpPr>
          <p:cNvPr id="284" name="Text 33"/>
          <p:cNvSpPr txBox="1"/>
          <p:nvPr/>
        </p:nvSpPr>
        <p:spPr>
          <a:xfrm>
            <a:off x="828452" y="5329411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SimpleHome XCS7-1002 Cam</a:t>
            </a:r>
          </a:p>
        </p:txBody>
      </p:sp>
      <p:sp>
        <p:nvSpPr>
          <p:cNvPr id="285" name="Text 34"/>
          <p:cNvSpPr txBox="1"/>
          <p:nvPr/>
        </p:nvSpPr>
        <p:spPr>
          <a:xfrm>
            <a:off x="3523122" y="5329411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SimpleHome XCS7-1003 Cam</a:t>
            </a:r>
          </a:p>
        </p:txBody>
      </p:sp>
      <p:sp>
        <p:nvSpPr>
          <p:cNvPr id="286" name="Text 35"/>
          <p:cNvSpPr txBox="1"/>
          <p:nvPr/>
        </p:nvSpPr>
        <p:spPr>
          <a:xfrm>
            <a:off x="828452" y="5639984"/>
            <a:ext cx="26033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• Ennio Doorbell</a:t>
            </a:r>
          </a:p>
        </p:txBody>
      </p:sp>
      <p:sp>
        <p:nvSpPr>
          <p:cNvPr id="287" name="Shape 36"/>
          <p:cNvSpPr/>
          <p:nvPr/>
        </p:nvSpPr>
        <p:spPr>
          <a:xfrm>
            <a:off x="6172120" y="1510760"/>
            <a:ext cx="5480686" cy="4430221"/>
          </a:xfrm>
          <a:prstGeom prst="roundRect">
            <a:avLst>
              <a:gd name="adj" fmla="val 1856"/>
            </a:avLst>
          </a:prstGeom>
          <a:solidFill>
            <a:srgbClr val="F7F9FC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88" name="Text 37"/>
          <p:cNvSpPr txBox="1"/>
          <p:nvPr/>
        </p:nvSpPr>
        <p:spPr>
          <a:xfrm>
            <a:off x="6446154" y="1786169"/>
            <a:ext cx="49326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20" sz="1100">
                <a:solidFill>
                  <a:srgbClr val="F4A261"/>
                </a:solidFill>
              </a:defRPr>
            </a:lvl1pPr>
          </a:lstStyle>
          <a:p>
            <a:pPr/>
            <a:r>
              <a:t>PHASE 2 : JS-Divergence Clustering</a:t>
            </a:r>
          </a:p>
        </p:txBody>
      </p:sp>
      <p:sp>
        <p:nvSpPr>
          <p:cNvPr id="289" name="Text 38"/>
          <p:cNvSpPr txBox="1"/>
          <p:nvPr/>
        </p:nvSpPr>
        <p:spPr>
          <a:xfrm>
            <a:off x="6446154" y="2165284"/>
            <a:ext cx="4932618" cy="19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B1F3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D[i,j] = JS(dᵢ ‖ dⱼ) = ½KL(dᵢ‖m) + ½KL(dⱼ‖m)</a:t>
            </a:r>
          </a:p>
        </p:txBody>
      </p:sp>
      <p:sp>
        <p:nvSpPr>
          <p:cNvPr id="290" name="Text 39"/>
          <p:cNvSpPr txBox="1"/>
          <p:nvPr/>
        </p:nvSpPr>
        <p:spPr>
          <a:xfrm>
            <a:off x="6446154" y="2676780"/>
            <a:ext cx="49326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m = ½(dᵢ+dⱼ).  Symmetric, bounded [0,1]: 0 = identical, 1 = completely different.</a:t>
            </a:r>
          </a:p>
        </p:txBody>
      </p:sp>
      <p:sp>
        <p:nvSpPr>
          <p:cNvPr id="291" name="Shape 40"/>
          <p:cNvSpPr/>
          <p:nvPr/>
        </p:nvSpPr>
        <p:spPr>
          <a:xfrm>
            <a:off x="6446154" y="3063620"/>
            <a:ext cx="4932618" cy="18270"/>
          </a:xfrm>
          <a:prstGeom prst="rect">
            <a:avLst/>
          </a:prstGeom>
          <a:solidFill>
            <a:srgbClr val="E4E8F0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92" name="Text 41"/>
          <p:cNvSpPr txBox="1"/>
          <p:nvPr/>
        </p:nvSpPr>
        <p:spPr>
          <a:xfrm>
            <a:off x="6446154" y="3317263"/>
            <a:ext cx="493261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Ward Hierarchical Clustering</a:t>
            </a:r>
          </a:p>
        </p:txBody>
      </p:sp>
      <p:sp>
        <p:nvSpPr>
          <p:cNvPr id="293" name="Text 42"/>
          <p:cNvSpPr txBox="1"/>
          <p:nvPr/>
        </p:nvSpPr>
        <p:spPr>
          <a:xfrm>
            <a:off x="6446154" y="3861309"/>
            <a:ext cx="4932618" cy="91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2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Start: every gateway is its own cluster</a:t>
            </a:r>
            <a:endParaRPr b="0">
              <a:solidFill>
                <a:srgbClr val="1B1F3B"/>
              </a:solidFill>
            </a:endParaRPr>
          </a:p>
          <a:p>
            <a:pPr>
              <a:lnSpc>
                <a:spcPct val="140000"/>
              </a:lnSpc>
              <a:defRPr b="1" sz="12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Iteratively merge the closest clusters</a:t>
            </a:r>
            <a:endParaRPr b="0">
              <a:solidFill>
                <a:srgbClr val="1B1F3B"/>
              </a:solidFill>
            </a:endParaRPr>
          </a:p>
          <a:p>
            <a:pPr>
              <a:lnSpc>
                <a:spcPct val="140000"/>
              </a:lnSpc>
              <a:defRPr b="1" sz="12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Objective: minimize within-cluster variance</a:t>
            </a:r>
            <a:endParaRPr b="0">
              <a:solidFill>
                <a:srgbClr val="1B1F3B"/>
              </a:solidFill>
            </a:endParaRPr>
          </a:p>
          <a:p>
            <a:pPr>
              <a:lnSpc>
                <a:spcPct val="140000"/>
              </a:lnSpc>
              <a:defRPr b="1" sz="1200">
                <a:solidFill>
                  <a:srgbClr val="F4A261"/>
                </a:solidFill>
              </a:defRPr>
            </a:pPr>
            <a:r>
              <a:t>• </a:t>
            </a:r>
            <a:r>
              <a:rPr b="0">
                <a:solidFill>
                  <a:srgbClr val="1B1F3B"/>
                </a:solidFill>
              </a:rPr>
              <a:t>Output: C clusters of similar device-type mixes</a:t>
            </a:r>
          </a:p>
        </p:txBody>
      </p:sp>
      <p:sp>
        <p:nvSpPr>
          <p:cNvPr id="294" name="Shape 43"/>
          <p:cNvSpPr/>
          <p:nvPr/>
        </p:nvSpPr>
        <p:spPr>
          <a:xfrm>
            <a:off x="6446154" y="5118878"/>
            <a:ext cx="4932618" cy="685086"/>
          </a:xfrm>
          <a:prstGeom prst="roundRect">
            <a:avLst>
              <a:gd name="adj" fmla="val 10667"/>
            </a:avLst>
          </a:prstGeom>
          <a:solidFill>
            <a:srgbClr val="EFF6F5"/>
          </a:solidFill>
          <a:ln w="12700">
            <a:miter lim="400000"/>
          </a:ln>
        </p:spPr>
        <p:txBody>
          <a:bodyPr lIns="45672" tIns="45672" rIns="45672" bIns="45672"/>
          <a:lstStyle/>
          <a:p>
            <a:pPr/>
          </a:p>
        </p:txBody>
      </p:sp>
      <p:sp>
        <p:nvSpPr>
          <p:cNvPr id="295" name="Text 44"/>
          <p:cNvSpPr txBox="1"/>
          <p:nvPr/>
        </p:nvSpPr>
        <p:spPr>
          <a:xfrm>
            <a:off x="6628844" y="5392885"/>
            <a:ext cx="456723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i="1" sz="1000">
                <a:solidFill>
                  <a:srgbClr val="12A8A0"/>
                </a:solidFill>
              </a:defRPr>
            </a:lvl1pPr>
          </a:lstStyle>
          <a:p>
            <a:pPr/>
            <a:r>
              <a:t>Privacy guarantee: only device-type proportions leave the gateway, never raw traffic.</a:t>
            </a:r>
          </a:p>
        </p:txBody>
      </p:sp>
      <p:sp>
        <p:nvSpPr>
          <p:cNvPr id="296" name="Text 45"/>
          <p:cNvSpPr txBox="1"/>
          <p:nvPr/>
        </p:nvSpPr>
        <p:spPr>
          <a:xfrm>
            <a:off x="463073" y="6599104"/>
            <a:ext cx="8221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FedHome  •  Big Data Analytics  •  Md. Raihan Sobhan</a:t>
            </a:r>
          </a:p>
        </p:txBody>
      </p:sp>
      <p:sp>
        <p:nvSpPr>
          <p:cNvPr id="297" name="Text 46"/>
          <p:cNvSpPr txBox="1"/>
          <p:nvPr/>
        </p:nvSpPr>
        <p:spPr>
          <a:xfrm>
            <a:off x="11451846" y="6599104"/>
            <a:ext cx="3653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98" name="Text 0"/>
          <p:cNvSpPr txBox="1"/>
          <p:nvPr/>
        </p:nvSpPr>
        <p:spPr>
          <a:xfrm>
            <a:off x="554990" y="378767"/>
            <a:ext cx="9144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ARCHITECTURE · PHASES 1-2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 txBox="1"/>
          <p:nvPr/>
        </p:nvSpPr>
        <p:spPr>
          <a:xfrm>
            <a:off x="554990" y="378767"/>
            <a:ext cx="9144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ARCHITECTURE · PHASES 3–4</a:t>
            </a:r>
          </a:p>
        </p:txBody>
      </p:sp>
      <p:sp>
        <p:nvSpPr>
          <p:cNvPr id="301" name="Text 1"/>
          <p:cNvSpPr txBox="1"/>
          <p:nvPr/>
        </p:nvSpPr>
        <p:spPr>
          <a:xfrm>
            <a:off x="554989" y="704088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4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Cluster-Aware FL + Ensemble Merge</a:t>
            </a:r>
          </a:p>
        </p:txBody>
      </p:sp>
      <p:sp>
        <p:nvSpPr>
          <p:cNvPr id="302" name="Shape 2"/>
          <p:cNvSpPr/>
          <p:nvPr/>
        </p:nvSpPr>
        <p:spPr>
          <a:xfrm>
            <a:off x="554990" y="1600200"/>
            <a:ext cx="5394960" cy="4206241"/>
          </a:xfrm>
          <a:prstGeom prst="roundRect">
            <a:avLst>
              <a:gd name="adj" fmla="val 1739"/>
            </a:avLst>
          </a:prstGeom>
          <a:solidFill>
            <a:srgbClr val="EAF3F7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9AAFC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" name="Text 3"/>
          <p:cNvSpPr txBox="1"/>
          <p:nvPr/>
        </p:nvSpPr>
        <p:spPr>
          <a:xfrm>
            <a:off x="829310" y="1841807"/>
            <a:ext cx="4572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065A82"/>
                </a:solidFill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304" name="Text 4"/>
          <p:cNvSpPr txBox="1"/>
          <p:nvPr/>
        </p:nvSpPr>
        <p:spPr>
          <a:xfrm>
            <a:off x="829310" y="2168460"/>
            <a:ext cx="4846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2433"/>
                </a:solidFill>
              </a:defRPr>
            </a:lvl1pPr>
          </a:lstStyle>
          <a:p>
            <a:pPr/>
            <a:r>
              <a:t>For each cluster:</a:t>
            </a:r>
          </a:p>
        </p:txBody>
      </p:sp>
      <p:sp>
        <p:nvSpPr>
          <p:cNvPr id="305" name="Text 5"/>
          <p:cNvSpPr txBox="1"/>
          <p:nvPr/>
        </p:nvSpPr>
        <p:spPr>
          <a:xfrm>
            <a:off x="829309" y="3042642"/>
            <a:ext cx="4892042" cy="113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A2433"/>
                </a:solidFill>
              </a:defRPr>
            </a:pPr>
            <a:r>
              <a:t>•  Initialize a separate cluster model</a:t>
            </a:r>
          </a:p>
          <a:p>
            <a:pPr>
              <a:lnSpc>
                <a:spcPct val="135000"/>
              </a:lnSpc>
              <a:defRPr sz="1200">
                <a:solidFill>
                  <a:srgbClr val="1A2433"/>
                </a:solidFill>
              </a:defRPr>
            </a:pPr>
          </a:p>
          <a:p>
            <a:pPr>
              <a:lnSpc>
                <a:spcPct val="135000"/>
              </a:lnSpc>
              <a:defRPr sz="1200">
                <a:solidFill>
                  <a:srgbClr val="1A2433"/>
                </a:solidFill>
              </a:defRPr>
            </a:pPr>
            <a:r>
              <a:t>•  Run FedMSE federated learning only within the cluster</a:t>
            </a:r>
          </a:p>
          <a:p>
            <a:pPr>
              <a:lnSpc>
                <a:spcPct val="135000"/>
              </a:lnSpc>
              <a:defRPr sz="1200">
                <a:solidFill>
                  <a:srgbClr val="1A2433"/>
                </a:solidFill>
              </a:defRPr>
            </a:pPr>
          </a:p>
          <a:p>
            <a:pPr>
              <a:lnSpc>
                <a:spcPct val="135000"/>
              </a:lnSpc>
              <a:defRPr sz="1200">
                <a:solidFill>
                  <a:srgbClr val="1A2433"/>
                </a:solidFill>
              </a:defRPr>
            </a:pPr>
            <a:r>
              <a:t>•  Each cluster gets a specialized model optimized for its device-type mix</a:t>
            </a:r>
          </a:p>
        </p:txBody>
      </p:sp>
      <p:sp>
        <p:nvSpPr>
          <p:cNvPr id="306" name="Shape 6"/>
          <p:cNvSpPr/>
          <p:nvPr/>
        </p:nvSpPr>
        <p:spPr>
          <a:xfrm>
            <a:off x="6178550" y="1600200"/>
            <a:ext cx="5468112" cy="4206241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9AAFC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Text 7"/>
          <p:cNvSpPr txBox="1"/>
          <p:nvPr/>
        </p:nvSpPr>
        <p:spPr>
          <a:xfrm>
            <a:off x="6452870" y="1841807"/>
            <a:ext cx="4572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8FD3E8"/>
                </a:solidFill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308" name="Text 8"/>
          <p:cNvSpPr txBox="1"/>
          <p:nvPr/>
        </p:nvSpPr>
        <p:spPr>
          <a:xfrm>
            <a:off x="6452870" y="2168460"/>
            <a:ext cx="4846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Ensemble Merge</a:t>
            </a:r>
          </a:p>
        </p:txBody>
      </p:sp>
      <p:sp>
        <p:nvSpPr>
          <p:cNvPr id="309" name="Text 9"/>
          <p:cNvSpPr txBox="1"/>
          <p:nvPr/>
        </p:nvSpPr>
        <p:spPr>
          <a:xfrm>
            <a:off x="6452870" y="3042642"/>
            <a:ext cx="5029201" cy="1138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E4F1F6"/>
                </a:solidFill>
              </a:defRPr>
            </a:pPr>
            <a:r>
              <a:t>•  Evaluate each cluster model on the shared development set</a:t>
            </a:r>
          </a:p>
          <a:p>
            <a:pPr>
              <a:lnSpc>
                <a:spcPct val="135000"/>
              </a:lnSpc>
              <a:defRPr sz="1200">
                <a:solidFill>
                  <a:srgbClr val="E4F1F6"/>
                </a:solidFill>
              </a:defRPr>
            </a:pPr>
          </a:p>
          <a:p>
            <a:pPr>
              <a:lnSpc>
                <a:spcPct val="135000"/>
              </a:lnSpc>
              <a:defRPr sz="1200">
                <a:solidFill>
                  <a:srgbClr val="E4F1F6"/>
                </a:solidFill>
              </a:defRPr>
            </a:pPr>
            <a:r>
              <a:t>•  Weight models by reconstruction quality</a:t>
            </a:r>
          </a:p>
          <a:p>
            <a:pPr>
              <a:lnSpc>
                <a:spcPct val="135000"/>
              </a:lnSpc>
              <a:defRPr sz="1200">
                <a:solidFill>
                  <a:srgbClr val="E4F1F6"/>
                </a:solidFill>
              </a:defRPr>
            </a:pPr>
          </a:p>
          <a:p>
            <a:pPr>
              <a:lnSpc>
                <a:spcPct val="135000"/>
              </a:lnSpc>
              <a:defRPr sz="1200">
                <a:solidFill>
                  <a:srgbClr val="E4F1F6"/>
                </a:solidFill>
              </a:defRPr>
            </a:pPr>
            <a:r>
              <a:t>•  Produce the final global ensemble model</a:t>
            </a:r>
          </a:p>
        </p:txBody>
      </p:sp>
      <p:sp>
        <p:nvSpPr>
          <p:cNvPr id="310" name="Text 10"/>
          <p:cNvSpPr txBox="1"/>
          <p:nvPr/>
        </p:nvSpPr>
        <p:spPr>
          <a:xfrm>
            <a:off x="463550" y="6611620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A87"/>
                </a:solidFill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11" name="Text 11"/>
          <p:cNvSpPr txBox="1"/>
          <p:nvPr/>
        </p:nvSpPr>
        <p:spPr>
          <a:xfrm>
            <a:off x="9424669" y="6611620"/>
            <a:ext cx="23134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A87"/>
                </a:solidFill>
              </a:defRPr>
            </a:lvl1pPr>
          </a:lstStyle>
          <a:p>
            <a:pPr/>
            <a:r>
              <a:t>FedHome  |  8 / 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4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5" name="04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16" name="Implementation Design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Implementation Design</a:t>
            </a:r>
          </a:p>
        </p:txBody>
      </p:sp>
      <p:sp>
        <p:nvSpPr>
          <p:cNvPr id="317" name="Detailed phases from data to results"/>
          <p:cNvSpPr txBox="1"/>
          <p:nvPr/>
        </p:nvSpPr>
        <p:spPr>
          <a:xfrm>
            <a:off x="2674619" y="3695700"/>
            <a:ext cx="63855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Detailed phases from data to results</a:t>
            </a:r>
          </a:p>
        </p:txBody>
      </p:sp>
      <p:sp>
        <p:nvSpPr>
          <p:cNvPr id="318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9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0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1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2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23" name="FedHome | 11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HASE 2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326" name="Spark-based data pipeline generates 50×9 profile matrix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Spark-based data pipeline generates 50×9 profile matrix</a:t>
            </a:r>
          </a:p>
        </p:txBody>
      </p:sp>
      <p:sp>
        <p:nvSpPr>
          <p:cNvPr id="327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8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29" name="FedHome | 12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12</a:t>
            </a:r>
          </a:p>
        </p:txBody>
      </p:sp>
      <p:sp>
        <p:nvSpPr>
          <p:cNvPr id="330" name="Rectangle"/>
          <p:cNvSpPr/>
          <p:nvPr/>
        </p:nvSpPr>
        <p:spPr>
          <a:xfrm>
            <a:off x="666750" y="1809750"/>
            <a:ext cx="3286125" cy="2857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1" name="Spark Workflow"/>
          <p:cNvSpPr txBox="1"/>
          <p:nvPr/>
        </p:nvSpPr>
        <p:spPr>
          <a:xfrm>
            <a:off x="998219" y="2133600"/>
            <a:ext cx="21945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Spark Workflow</a:t>
            </a:r>
          </a:p>
        </p:txBody>
      </p:sp>
      <p:sp>
        <p:nvSpPr>
          <p:cNvPr id="332" name="- Load N-BaIoT CSVs into Spark DataFrames…"/>
          <p:cNvSpPr txBox="1"/>
          <p:nvPr/>
        </p:nvSpPr>
        <p:spPr>
          <a:xfrm>
            <a:off x="998219" y="2705100"/>
            <a:ext cx="2289812" cy="124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Load N-BaIoT CSVs into Spark DataFrames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Compute per-gateway traffic statistics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Normalize to 50 × 9 device-type matrix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Export for downstream clustering</a:t>
            </a:r>
          </a:p>
        </p:txBody>
      </p:sp>
      <p:sp>
        <p:nvSpPr>
          <p:cNvPr id="333" name="Rectangle"/>
          <p:cNvSpPr/>
          <p:nvPr/>
        </p:nvSpPr>
        <p:spPr>
          <a:xfrm>
            <a:off x="4476750" y="1809750"/>
            <a:ext cx="3286125" cy="2857500"/>
          </a:xfrm>
          <a:prstGeom prst="rect">
            <a:avLst/>
          </a:prstGeom>
          <a:solidFill>
            <a:srgbClr val="EAF7FA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4" name="Output"/>
          <p:cNvSpPr txBox="1"/>
          <p:nvPr/>
        </p:nvSpPr>
        <p:spPr>
          <a:xfrm>
            <a:off x="4808219" y="2133600"/>
            <a:ext cx="21945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35" name="136,565 rows across 50 gateways…"/>
          <p:cNvSpPr txBox="1"/>
          <p:nvPr/>
        </p:nvSpPr>
        <p:spPr>
          <a:xfrm>
            <a:off x="4808219" y="2705100"/>
            <a:ext cx="2289812" cy="916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136,565 rows across 50 gateways</a:t>
            </a:r>
          </a:p>
          <a:p>
            <a:pPr/>
            <a:endParaRPr sz="1100">
              <a:solidFill>
                <a:srgbClr val="263041"/>
              </a:solidFill>
              <a:latin typeface="+mn-lt"/>
              <a:ea typeface="+mn-ea"/>
              <a:cs typeface="+mn-cs"/>
              <a:sym typeface="Helvetica"/>
            </a:endParaRP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50 × 9 normalized profile matrix</a:t>
            </a:r>
          </a:p>
          <a:p>
            <a:pPr/>
            <a:endParaRPr sz="1100">
              <a:solidFill>
                <a:srgbClr val="263041"/>
              </a:solidFill>
              <a:latin typeface="+mn-lt"/>
              <a:ea typeface="+mn-ea"/>
              <a:cs typeface="+mn-cs"/>
              <a:sym typeface="Helvetica"/>
            </a:endParaRP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Exported as CSV/JSON</a:t>
            </a:r>
          </a:p>
        </p:txBody>
      </p:sp>
      <p:sp>
        <p:nvSpPr>
          <p:cNvPr id="336" name="Rectangle"/>
          <p:cNvSpPr/>
          <p:nvPr/>
        </p:nvSpPr>
        <p:spPr>
          <a:xfrm>
            <a:off x="8286750" y="1809750"/>
            <a:ext cx="2571750" cy="28575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7" name="Distributed Value"/>
          <p:cNvSpPr txBox="1"/>
          <p:nvPr/>
        </p:nvSpPr>
        <p:spPr>
          <a:xfrm>
            <a:off x="8618219" y="2133600"/>
            <a:ext cx="19088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8B7B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Distributed Value</a:t>
            </a:r>
          </a:p>
        </p:txBody>
      </p:sp>
      <p:sp>
        <p:nvSpPr>
          <p:cNvPr id="338" name="Spark 17.03s → scales to multi-node.…"/>
          <p:cNvSpPr txBox="1"/>
          <p:nvPr/>
        </p:nvSpPr>
        <p:spPr>
          <a:xfrm>
            <a:off x="8618219" y="2705100"/>
            <a:ext cx="1813562" cy="858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Spark 17.03s → scales to multi-node.</a:t>
            </a:r>
          </a:p>
          <a:p>
            <a:pPr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Pandas 1.12s → faster locally.</a:t>
            </a:r>
          </a:p>
          <a:p>
            <a:pPr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But architecture matters: Spark is production-ready.</a:t>
            </a:r>
          </a:p>
        </p:txBody>
      </p:sp>
      <p:sp>
        <p:nvSpPr>
          <p:cNvPr id="339" name="Rectangle"/>
          <p:cNvSpPr/>
          <p:nvPr/>
        </p:nvSpPr>
        <p:spPr>
          <a:xfrm>
            <a:off x="184785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0" name="136K"/>
          <p:cNvSpPr txBox="1"/>
          <p:nvPr/>
        </p:nvSpPr>
        <p:spPr>
          <a:xfrm>
            <a:off x="2076449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136K</a:t>
            </a:r>
          </a:p>
        </p:txBody>
      </p:sp>
      <p:sp>
        <p:nvSpPr>
          <p:cNvPr id="341" name="rows"/>
          <p:cNvSpPr txBox="1"/>
          <p:nvPr/>
        </p:nvSpPr>
        <p:spPr>
          <a:xfrm>
            <a:off x="2076449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rows</a:t>
            </a:r>
          </a:p>
        </p:txBody>
      </p:sp>
      <p:sp>
        <p:nvSpPr>
          <p:cNvPr id="342" name="Rectangle"/>
          <p:cNvSpPr/>
          <p:nvPr/>
        </p:nvSpPr>
        <p:spPr>
          <a:xfrm>
            <a:off x="400050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3" name="50"/>
          <p:cNvSpPr txBox="1"/>
          <p:nvPr/>
        </p:nvSpPr>
        <p:spPr>
          <a:xfrm>
            <a:off x="4229099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344" name="gateways"/>
          <p:cNvSpPr txBox="1"/>
          <p:nvPr/>
        </p:nvSpPr>
        <p:spPr>
          <a:xfrm>
            <a:off x="4229099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gateways</a:t>
            </a:r>
          </a:p>
        </p:txBody>
      </p:sp>
      <p:sp>
        <p:nvSpPr>
          <p:cNvPr id="345" name="Rectangle"/>
          <p:cNvSpPr/>
          <p:nvPr/>
        </p:nvSpPr>
        <p:spPr>
          <a:xfrm>
            <a:off x="615315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6" name="50×9"/>
          <p:cNvSpPr txBox="1"/>
          <p:nvPr/>
        </p:nvSpPr>
        <p:spPr>
          <a:xfrm>
            <a:off x="6381749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50×9</a:t>
            </a:r>
          </a:p>
        </p:txBody>
      </p:sp>
      <p:sp>
        <p:nvSpPr>
          <p:cNvPr id="347" name="profiles"/>
          <p:cNvSpPr txBox="1"/>
          <p:nvPr/>
        </p:nvSpPr>
        <p:spPr>
          <a:xfrm>
            <a:off x="6381749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profiles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HASE 3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350" name="Clustering: JS-divergence + Ward hierarchical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Clustering: JS-divergence + Ward hierarchical</a:t>
            </a:r>
          </a:p>
        </p:txBody>
      </p:sp>
      <p:sp>
        <p:nvSpPr>
          <p:cNvPr id="351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2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53" name="FedHome | 13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13</a:t>
            </a:r>
          </a:p>
        </p:txBody>
      </p:sp>
      <p:sp>
        <p:nvSpPr>
          <p:cNvPr id="354" name="Rectangle"/>
          <p:cNvSpPr/>
          <p:nvPr/>
        </p:nvSpPr>
        <p:spPr>
          <a:xfrm>
            <a:off x="666750" y="1809750"/>
            <a:ext cx="3429000" cy="2857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5" name="Clustering Algorithm"/>
          <p:cNvSpPr txBox="1"/>
          <p:nvPr/>
        </p:nvSpPr>
        <p:spPr>
          <a:xfrm>
            <a:off x="998219" y="2133600"/>
            <a:ext cx="2385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Clustering Algorithm</a:t>
            </a:r>
          </a:p>
        </p:txBody>
      </p:sp>
      <p:sp>
        <p:nvSpPr>
          <p:cNvPr id="356" name="- Pairwise Jensen-Shannon distances…"/>
          <p:cNvSpPr txBox="1"/>
          <p:nvPr/>
        </p:nvSpPr>
        <p:spPr>
          <a:xfrm>
            <a:off x="998219" y="2705100"/>
            <a:ext cx="2480312" cy="7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Pairwise Jensen-Shannon distances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Ward hierarchical clustering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Spark Bisecting K-Means agreement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Select C = 2 clusters (19, 31 size)</a:t>
            </a:r>
          </a:p>
        </p:txBody>
      </p:sp>
      <p:sp>
        <p:nvSpPr>
          <p:cNvPr id="357" name="Square"/>
          <p:cNvSpPr/>
          <p:nvPr/>
        </p:nvSpPr>
        <p:spPr>
          <a:xfrm>
            <a:off x="4667250" y="1809750"/>
            <a:ext cx="2857500" cy="2857500"/>
          </a:xfrm>
          <a:prstGeom prst="rect">
            <a:avLst/>
          </a:prstGeom>
          <a:solidFill>
            <a:srgbClr val="EAF7FA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8" name="Metrics"/>
          <p:cNvSpPr txBox="1"/>
          <p:nvPr/>
        </p:nvSpPr>
        <p:spPr>
          <a:xfrm>
            <a:off x="4998719" y="2133600"/>
            <a:ext cx="2099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359" name="Silhouette: 0.3967…"/>
          <p:cNvSpPr txBox="1"/>
          <p:nvPr/>
        </p:nvSpPr>
        <p:spPr>
          <a:xfrm>
            <a:off x="4998719" y="2705100"/>
            <a:ext cx="2004062" cy="108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Silhouette: 0.3967</a:t>
            </a:r>
          </a:p>
          <a:p>
            <a:pPr/>
            <a:endParaRPr sz="1100">
              <a:solidFill>
                <a:srgbClr val="263041"/>
              </a:solidFill>
              <a:latin typeface="+mn-lt"/>
              <a:ea typeface="+mn-ea"/>
              <a:cs typeface="+mn-cs"/>
              <a:sym typeface="Helvetica"/>
            </a:endParaRP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Ward vs BKM ARI: 0.6998</a:t>
            </a:r>
          </a:p>
          <a:p>
            <a:pPr/>
            <a:endParaRPr sz="1100">
              <a:solidFill>
                <a:srgbClr val="263041"/>
              </a:solidFill>
              <a:latin typeface="+mn-lt"/>
              <a:ea typeface="+mn-ea"/>
              <a:cs typeface="+mn-cs"/>
              <a:sym typeface="Helvetica"/>
            </a:endParaRP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Interpretable separation (not perfect)</a:t>
            </a:r>
          </a:p>
        </p:txBody>
      </p:sp>
      <p:sp>
        <p:nvSpPr>
          <p:cNvPr id="360" name="Rectangle"/>
          <p:cNvSpPr/>
          <p:nvPr/>
        </p:nvSpPr>
        <p:spPr>
          <a:xfrm>
            <a:off x="8096250" y="1809750"/>
            <a:ext cx="2762250" cy="28575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1" name="Architecture"/>
          <p:cNvSpPr txBox="1"/>
          <p:nvPr/>
        </p:nvSpPr>
        <p:spPr>
          <a:xfrm>
            <a:off x="8427719" y="2133600"/>
            <a:ext cx="20993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8B7B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362" name="JS divergence is privacy-safe: only works with aggregated statistics, never raw data."/>
          <p:cNvSpPr txBox="1"/>
          <p:nvPr/>
        </p:nvSpPr>
        <p:spPr>
          <a:xfrm>
            <a:off x="8427719" y="2705100"/>
            <a:ext cx="1861187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JS divergence is privacy-safe: only works with aggregated statistics, never raw data.</a:t>
            </a:r>
          </a:p>
        </p:txBody>
      </p:sp>
      <p:sp>
        <p:nvSpPr>
          <p:cNvPr id="363" name="Rectangle"/>
          <p:cNvSpPr/>
          <p:nvPr/>
        </p:nvSpPr>
        <p:spPr>
          <a:xfrm>
            <a:off x="245745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4" name="C=2"/>
          <p:cNvSpPr txBox="1"/>
          <p:nvPr/>
        </p:nvSpPr>
        <p:spPr>
          <a:xfrm>
            <a:off x="2686049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C=2</a:t>
            </a:r>
          </a:p>
        </p:txBody>
      </p:sp>
      <p:sp>
        <p:nvSpPr>
          <p:cNvPr id="365" name="clusters"/>
          <p:cNvSpPr txBox="1"/>
          <p:nvPr/>
        </p:nvSpPr>
        <p:spPr>
          <a:xfrm>
            <a:off x="2686049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clusters</a:t>
            </a:r>
          </a:p>
        </p:txBody>
      </p:sp>
      <p:sp>
        <p:nvSpPr>
          <p:cNvPr id="366" name="Rectangle"/>
          <p:cNvSpPr/>
          <p:nvPr/>
        </p:nvSpPr>
        <p:spPr>
          <a:xfrm>
            <a:off x="443865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7" name="19+31"/>
          <p:cNvSpPr txBox="1"/>
          <p:nvPr/>
        </p:nvSpPr>
        <p:spPr>
          <a:xfrm>
            <a:off x="4667249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19+31</a:t>
            </a:r>
          </a:p>
        </p:txBody>
      </p:sp>
      <p:sp>
        <p:nvSpPr>
          <p:cNvPr id="368" name="split"/>
          <p:cNvSpPr txBox="1"/>
          <p:nvPr/>
        </p:nvSpPr>
        <p:spPr>
          <a:xfrm>
            <a:off x="4667249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split</a:t>
            </a:r>
          </a:p>
        </p:txBody>
      </p:sp>
      <p:sp>
        <p:nvSpPr>
          <p:cNvPr id="369" name="Rectangle"/>
          <p:cNvSpPr/>
          <p:nvPr/>
        </p:nvSpPr>
        <p:spPr>
          <a:xfrm>
            <a:off x="6419850" y="5010150"/>
            <a:ext cx="1524000" cy="7810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0" name="0.39"/>
          <p:cNvSpPr txBox="1"/>
          <p:nvPr/>
        </p:nvSpPr>
        <p:spPr>
          <a:xfrm>
            <a:off x="6648450" y="5193029"/>
            <a:ext cx="1066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0.39</a:t>
            </a:r>
          </a:p>
        </p:txBody>
      </p:sp>
      <p:sp>
        <p:nvSpPr>
          <p:cNvPr id="371" name="silhouette"/>
          <p:cNvSpPr txBox="1"/>
          <p:nvPr/>
        </p:nvSpPr>
        <p:spPr>
          <a:xfrm>
            <a:off x="6648450" y="5569458"/>
            <a:ext cx="1066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silhouette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HASE 4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374" name="Cluster-aware federated training: FedMSE per cluster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Cluster-aware federated training: FedMSE per cluster</a:t>
            </a:r>
          </a:p>
        </p:txBody>
      </p:sp>
      <p:sp>
        <p:nvSpPr>
          <p:cNvPr id="375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6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77" name="FedHome | 14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14</a:t>
            </a:r>
          </a:p>
        </p:txBody>
      </p:sp>
      <p:sp>
        <p:nvSpPr>
          <p:cNvPr id="378" name="Rectangle"/>
          <p:cNvSpPr/>
          <p:nvPr/>
        </p:nvSpPr>
        <p:spPr>
          <a:xfrm>
            <a:off x="742950" y="1866900"/>
            <a:ext cx="4953000" cy="2952750"/>
          </a:xfrm>
          <a:prstGeom prst="rect">
            <a:avLst/>
          </a:prstGeom>
          <a:solidFill>
            <a:srgbClr val="EAF7FA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9" name="Cluster 1 Training (19 clients)"/>
          <p:cNvSpPr txBox="1"/>
          <p:nvPr/>
        </p:nvSpPr>
        <p:spPr>
          <a:xfrm>
            <a:off x="1093469" y="2209800"/>
            <a:ext cx="3909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1 Training (19 clients)</a:t>
            </a:r>
          </a:p>
        </p:txBody>
      </p:sp>
      <p:sp>
        <p:nvSpPr>
          <p:cNvPr id="380" name="- FedMSE with SAE-CEN + MSEAvg…"/>
          <p:cNvSpPr txBox="1"/>
          <p:nvPr/>
        </p:nvSpPr>
        <p:spPr>
          <a:xfrm>
            <a:off x="1093469" y="2781300"/>
            <a:ext cx="3718562" cy="7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FedMSE with SAE-CEN + MSEAvg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- 20 global rounds, 100 local epochs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- 50% client selection per round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Average AUC: 0.987283</a:t>
            </a:r>
          </a:p>
        </p:txBody>
      </p:sp>
      <p:sp>
        <p:nvSpPr>
          <p:cNvPr id="381" name="Rectangle"/>
          <p:cNvSpPr/>
          <p:nvPr/>
        </p:nvSpPr>
        <p:spPr>
          <a:xfrm>
            <a:off x="6324600" y="1866900"/>
            <a:ext cx="4762500" cy="29527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2" name="Cluster 2 Training (31 clients)"/>
          <p:cNvSpPr txBox="1"/>
          <p:nvPr/>
        </p:nvSpPr>
        <p:spPr>
          <a:xfrm>
            <a:off x="6675119" y="2209800"/>
            <a:ext cx="35280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2 Training (31 clients)</a:t>
            </a:r>
          </a:p>
        </p:txBody>
      </p:sp>
      <p:sp>
        <p:nvSpPr>
          <p:cNvPr id="383" name="- Identical FedMSE configuration…"/>
          <p:cNvSpPr txBox="1"/>
          <p:nvPr/>
        </p:nvSpPr>
        <p:spPr>
          <a:xfrm>
            <a:off x="6675119" y="2781300"/>
            <a:ext cx="3623312" cy="7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Identical FedMSE configuration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Same 20 rounds, 100 epochs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Deterministic split manifest reused</a:t>
            </a:r>
          </a:p>
          <a:p>
            <a:pPr>
              <a:defRPr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- Average AUC: 0.967393</a:t>
            </a:r>
          </a:p>
        </p:txBody>
      </p:sp>
      <p:sp>
        <p:nvSpPr>
          <p:cNvPr id="384" name="Rectangle"/>
          <p:cNvSpPr/>
          <p:nvPr/>
        </p:nvSpPr>
        <p:spPr>
          <a:xfrm>
            <a:off x="2000250" y="5143500"/>
            <a:ext cx="2190750" cy="857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5" name="0.987283"/>
          <p:cNvSpPr txBox="1"/>
          <p:nvPr/>
        </p:nvSpPr>
        <p:spPr>
          <a:xfrm>
            <a:off x="2255519" y="5353049"/>
            <a:ext cx="168021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0.987283</a:t>
            </a:r>
          </a:p>
        </p:txBody>
      </p:sp>
      <p:sp>
        <p:nvSpPr>
          <p:cNvPr id="386" name="Cluster 1 AUC"/>
          <p:cNvSpPr txBox="1"/>
          <p:nvPr/>
        </p:nvSpPr>
        <p:spPr>
          <a:xfrm>
            <a:off x="2255519" y="5756909"/>
            <a:ext cx="16802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1 AUC</a:t>
            </a:r>
          </a:p>
        </p:txBody>
      </p:sp>
      <p:sp>
        <p:nvSpPr>
          <p:cNvPr id="387" name="Rectangle"/>
          <p:cNvSpPr/>
          <p:nvPr/>
        </p:nvSpPr>
        <p:spPr>
          <a:xfrm>
            <a:off x="4667250" y="5143500"/>
            <a:ext cx="2190750" cy="857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8" name="0.967393"/>
          <p:cNvSpPr txBox="1"/>
          <p:nvPr/>
        </p:nvSpPr>
        <p:spPr>
          <a:xfrm>
            <a:off x="4922519" y="5353049"/>
            <a:ext cx="168021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0.967393</a:t>
            </a:r>
          </a:p>
        </p:txBody>
      </p:sp>
      <p:sp>
        <p:nvSpPr>
          <p:cNvPr id="389" name="Cluster 2 AUC"/>
          <p:cNvSpPr txBox="1"/>
          <p:nvPr/>
        </p:nvSpPr>
        <p:spPr>
          <a:xfrm>
            <a:off x="4922519" y="5756909"/>
            <a:ext cx="16802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2 AUC</a:t>
            </a:r>
          </a:p>
        </p:txBody>
      </p:sp>
      <p:sp>
        <p:nvSpPr>
          <p:cNvPr id="390" name="Rectangle"/>
          <p:cNvSpPr/>
          <p:nvPr/>
        </p:nvSpPr>
        <p:spPr>
          <a:xfrm>
            <a:off x="7334250" y="5143500"/>
            <a:ext cx="2190750" cy="857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1" name="120.5s+122s"/>
          <p:cNvSpPr txBox="1"/>
          <p:nvPr/>
        </p:nvSpPr>
        <p:spPr>
          <a:xfrm>
            <a:off x="7589519" y="5353049"/>
            <a:ext cx="168021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120.5s+122s</a:t>
            </a:r>
          </a:p>
        </p:txBody>
      </p:sp>
      <p:sp>
        <p:nvSpPr>
          <p:cNvPr id="392" name="Total train"/>
          <p:cNvSpPr txBox="1"/>
          <p:nvPr/>
        </p:nvSpPr>
        <p:spPr>
          <a:xfrm>
            <a:off x="7589519" y="5756909"/>
            <a:ext cx="16802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Total train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HASE 5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PHASE 5</a:t>
            </a:r>
          </a:p>
        </p:txBody>
      </p:sp>
      <p:sp>
        <p:nvSpPr>
          <p:cNvPr id="395" name="Ensemble merge: weighted parameter averaging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Ensemble merge: weighted parameter averaging</a:t>
            </a:r>
          </a:p>
        </p:txBody>
      </p:sp>
      <p:sp>
        <p:nvSpPr>
          <p:cNvPr id="396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7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398" name="FedHome | 15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15</a:t>
            </a:r>
          </a:p>
        </p:txBody>
      </p:sp>
      <p:sp>
        <p:nvSpPr>
          <p:cNvPr id="399" name="Merge Formula"/>
          <p:cNvSpPr txBox="1"/>
          <p:nvPr/>
        </p:nvSpPr>
        <p:spPr>
          <a:xfrm>
            <a:off x="598169" y="1809750"/>
            <a:ext cx="109956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Merge Formula</a:t>
            </a:r>
          </a:p>
        </p:txBody>
      </p:sp>
      <p:sp>
        <p:nvSpPr>
          <p:cNvPr id="400" name="Rectangle"/>
          <p:cNvSpPr/>
          <p:nvPr/>
        </p:nvSpPr>
        <p:spPr>
          <a:xfrm>
            <a:off x="762000" y="2190750"/>
            <a:ext cx="10477500" cy="762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1" name="W_global = (19/50) × W_cluster1 + (31/50) × W_cluster2"/>
          <p:cNvSpPr txBox="1"/>
          <p:nvPr/>
        </p:nvSpPr>
        <p:spPr>
          <a:xfrm>
            <a:off x="998219" y="2362200"/>
            <a:ext cx="1000506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W_global = (19/50) × W_cluster1 + (31/50) × W_cluster2</a:t>
            </a:r>
          </a:p>
        </p:txBody>
      </p:sp>
      <p:sp>
        <p:nvSpPr>
          <p:cNvPr id="402" name="Rationale"/>
          <p:cNvSpPr txBox="1"/>
          <p:nvPr/>
        </p:nvSpPr>
        <p:spPr>
          <a:xfrm>
            <a:off x="598169" y="3143250"/>
            <a:ext cx="1099566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Rationale</a:t>
            </a:r>
          </a:p>
        </p:txBody>
      </p:sp>
      <p:sp>
        <p:nvSpPr>
          <p:cNvPr id="403" name="Cluster weights respect original client mass while preserving each cluster's learned specialization. Neither cluster dominates; both perspectives inform the final global model."/>
          <p:cNvSpPr txBox="1"/>
          <p:nvPr/>
        </p:nvSpPr>
        <p:spPr>
          <a:xfrm>
            <a:off x="788669" y="3476625"/>
            <a:ext cx="1053846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weights respect original client mass while preserving each cluster's learned specialization. Neither cluster dominates; both perspectives inform the final global model.</a:t>
            </a:r>
          </a:p>
        </p:txBody>
      </p:sp>
      <p:sp>
        <p:nvSpPr>
          <p:cNvPr id="404" name="Rectangle"/>
          <p:cNvSpPr/>
          <p:nvPr/>
        </p:nvSpPr>
        <p:spPr>
          <a:xfrm>
            <a:off x="1905000" y="4571999"/>
            <a:ext cx="3073359" cy="1111177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5" name="0.993082"/>
          <p:cNvSpPr txBox="1"/>
          <p:nvPr/>
        </p:nvSpPr>
        <p:spPr>
          <a:xfrm>
            <a:off x="2160269" y="4781549"/>
            <a:ext cx="253746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0.993082</a:t>
            </a:r>
          </a:p>
        </p:txBody>
      </p:sp>
      <p:sp>
        <p:nvSpPr>
          <p:cNvPr id="406" name="Ensemble AUC"/>
          <p:cNvSpPr txBox="1"/>
          <p:nvPr/>
        </p:nvSpPr>
        <p:spPr>
          <a:xfrm>
            <a:off x="2160269" y="5322570"/>
            <a:ext cx="25374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Ensemble AUC</a:t>
            </a:r>
          </a:p>
        </p:txBody>
      </p:sp>
      <p:sp>
        <p:nvSpPr>
          <p:cNvPr id="407" name="final result"/>
          <p:cNvSpPr txBox="1"/>
          <p:nvPr/>
        </p:nvSpPr>
        <p:spPr>
          <a:xfrm>
            <a:off x="2160269" y="5720715"/>
            <a:ext cx="25374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final result</a:t>
            </a:r>
          </a:p>
        </p:txBody>
      </p:sp>
      <p:sp>
        <p:nvSpPr>
          <p:cNvPr id="408" name="Rectangle"/>
          <p:cNvSpPr/>
          <p:nvPr/>
        </p:nvSpPr>
        <p:spPr>
          <a:xfrm>
            <a:off x="6191250" y="4572000"/>
            <a:ext cx="3073359" cy="1111176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9" name="+0.022238"/>
          <p:cNvSpPr txBox="1"/>
          <p:nvPr/>
        </p:nvSpPr>
        <p:spPr>
          <a:xfrm>
            <a:off x="6446519" y="4781549"/>
            <a:ext cx="253746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+0.022238</a:t>
            </a:r>
          </a:p>
        </p:txBody>
      </p:sp>
      <p:sp>
        <p:nvSpPr>
          <p:cNvPr id="410" name="Improvement"/>
          <p:cNvSpPr txBox="1"/>
          <p:nvPr/>
        </p:nvSpPr>
        <p:spPr>
          <a:xfrm>
            <a:off x="6446519" y="5322570"/>
            <a:ext cx="25374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Improvement</a:t>
            </a:r>
          </a:p>
        </p:txBody>
      </p:sp>
      <p:sp>
        <p:nvSpPr>
          <p:cNvPr id="411" name="vs baseline"/>
          <p:cNvSpPr txBox="1"/>
          <p:nvPr/>
        </p:nvSpPr>
        <p:spPr>
          <a:xfrm>
            <a:off x="6446519" y="5720715"/>
            <a:ext cx="25374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vs baseline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4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5" name="05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16" name="Experimental Results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Experimental Results</a:t>
            </a:r>
          </a:p>
        </p:txBody>
      </p:sp>
      <p:sp>
        <p:nvSpPr>
          <p:cNvPr id="417" name="Comprehensive outcome analysis"/>
          <p:cNvSpPr txBox="1"/>
          <p:nvPr/>
        </p:nvSpPr>
        <p:spPr>
          <a:xfrm>
            <a:off x="2674619" y="3695700"/>
            <a:ext cx="63855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Comprehensive outcome analysis</a:t>
            </a:r>
          </a:p>
        </p:txBody>
      </p:sp>
      <p:sp>
        <p:nvSpPr>
          <p:cNvPr id="418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9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0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1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2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23" name="FedHome | 16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SULTS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426" name="Complete outcome sequence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Complete outcome sequence</a:t>
            </a:r>
          </a:p>
        </p:txBody>
      </p:sp>
      <p:sp>
        <p:nvSpPr>
          <p:cNvPr id="427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8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29" name="FedHome | 17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17</a:t>
            </a:r>
          </a:p>
        </p:txBody>
      </p:sp>
      <p:graphicFrame>
        <p:nvGraphicFramePr>
          <p:cNvPr id="430" name="Table 1"/>
          <p:cNvGraphicFramePr/>
          <p:nvPr/>
        </p:nvGraphicFramePr>
        <p:xfrm>
          <a:off x="571500" y="1809750"/>
          <a:ext cx="10382250" cy="2857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7000"/>
                <a:gridCol w="1524000"/>
                <a:gridCol w="1524000"/>
                <a:gridCol w="1238250"/>
                <a:gridCol w="34290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sym typeface="Calibri"/>
                        </a:rPr>
                        <a:t>Experiment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sym typeface="Calibri"/>
                        </a:rPr>
                        <a:t>Avg AUC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sym typeface="Calibri"/>
                        </a:rPr>
                        <a:t>Final Loss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sym typeface="Calibri"/>
                        </a:rPr>
                        <a:t>Clients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  <a:sym typeface="Calibri"/>
                        </a:rPr>
                        <a:t>Notes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8B7B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FedMSE Baseline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0.970844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0.8030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50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Single global model reference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Cluster 1 (Phase 4)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0.987283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0.8156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19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Device-uniform subgroup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Cluster 2 (Phase 4)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0.967393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0.8622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31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Device-heterogeneous subgroup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FedHome Ensemble (Phase 5)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0.993082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N/A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50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263041"/>
                          </a:solidFill>
                          <a:sym typeface="Calibri"/>
                        </a:rPr>
                        <a:t>Weighted merge: best result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1" name="Key insight: Neither cluster alone beats baseline, but their weighted merge surpasses it—demonstrating synergistic benefit of specialization + ensemble."/>
          <p:cNvSpPr txBox="1"/>
          <p:nvPr/>
        </p:nvSpPr>
        <p:spPr>
          <a:xfrm>
            <a:off x="617219" y="5048250"/>
            <a:ext cx="1095756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Key insight: Neither cluster alone beats baseline, but their weighted merge surpasses it—demonstrating synergistic benefit of specialization + ensemble.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ONVERGENCE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CONVERGENCE</a:t>
            </a:r>
          </a:p>
        </p:txBody>
      </p:sp>
      <p:sp>
        <p:nvSpPr>
          <p:cNvPr id="434" name="AUC improvement over 20 training round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AUC improvement over 20 training rounds</a:t>
            </a:r>
          </a:p>
        </p:txBody>
      </p:sp>
      <p:sp>
        <p:nvSpPr>
          <p:cNvPr id="435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6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37" name="FedHome | 18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18</a:t>
            </a:r>
          </a:p>
        </p:txBody>
      </p:sp>
      <p:pic>
        <p:nvPicPr>
          <p:cNvPr id="43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716464"/>
            <a:ext cx="10477500" cy="3996572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Both clusters show stable convergence. Cluster 1 (19 clients) reaches ~0.987 plateau; Cluster 2 (31 clients) plateaus at ~0.967, reflecting underlying difficulty differences."/>
          <p:cNvSpPr txBox="1"/>
          <p:nvPr/>
        </p:nvSpPr>
        <p:spPr>
          <a:xfrm>
            <a:off x="617219" y="5905500"/>
            <a:ext cx="10957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Both clusters show stable convergence. Cluster 1 (19 clients) reaches ~0.987 plateau; Cluster 2 (31 clients) plateaus at ~0.967, reflecting underlying difficulty differences.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LUSTERING DIAGNOSTICS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CLUSTERING DIAGNOSTICS</a:t>
            </a:r>
          </a:p>
        </p:txBody>
      </p:sp>
      <p:sp>
        <p:nvSpPr>
          <p:cNvPr id="442" name="Ward dendrogram and JS-distance heatmap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Ward dendrogram and JS-distance heatmap</a:t>
            </a:r>
          </a:p>
        </p:txBody>
      </p:sp>
      <p:sp>
        <p:nvSpPr>
          <p:cNvPr id="443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4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45" name="FedHome | 19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19</a:t>
            </a:r>
          </a:p>
        </p:txBody>
      </p:sp>
      <p:pic>
        <p:nvPicPr>
          <p:cNvPr id="446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250" y="2161383"/>
            <a:ext cx="5524500" cy="234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18115" y="1524000"/>
            <a:ext cx="4251768" cy="3619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DISTRIBUTION ANALYSIS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DISTRIBUTION ANALYSIS</a:t>
            </a:r>
          </a:p>
        </p:txBody>
      </p:sp>
      <p:sp>
        <p:nvSpPr>
          <p:cNvPr id="450" name="Histogram and per-client AUC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Histogram and per-client AUC</a:t>
            </a:r>
          </a:p>
        </p:txBody>
      </p:sp>
      <p:sp>
        <p:nvSpPr>
          <p:cNvPr id="451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2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53" name="FedHome | 20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20</a:t>
            </a:r>
          </a:p>
        </p:txBody>
      </p:sp>
      <p:pic>
        <p:nvPicPr>
          <p:cNvPr id="454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250" y="1771458"/>
            <a:ext cx="5429250" cy="31245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7500" y="2250309"/>
            <a:ext cx="4953000" cy="2166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ER-CLIENT PERFORMANCE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PER-CLIENT PERFORMANCE</a:t>
            </a:r>
          </a:p>
        </p:txBody>
      </p:sp>
      <p:sp>
        <p:nvSpPr>
          <p:cNvPr id="458" name="Individual gateway AUC improvement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Individual gateway AUC improvements</a:t>
            </a:r>
          </a:p>
        </p:txBody>
      </p:sp>
      <p:sp>
        <p:nvSpPr>
          <p:cNvPr id="459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0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61" name="FedHome | 21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21</a:t>
            </a:r>
          </a:p>
        </p:txBody>
      </p:sp>
      <p:pic>
        <p:nvPicPr>
          <p:cNvPr id="462" name="image6.png" descr="image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9978" y="1524000"/>
            <a:ext cx="6092044" cy="4000500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Heatmap shows per-client improvements. Ensemble benefits all gateways while respecting cluster specialization."/>
          <p:cNvSpPr txBox="1"/>
          <p:nvPr/>
        </p:nvSpPr>
        <p:spPr>
          <a:xfrm>
            <a:off x="617219" y="5715000"/>
            <a:ext cx="10957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Heatmap shows per-client improvements. Ensemble benefits all gateways while respecting cluster specialization.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CLUSTER VISUALIZATION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VISUALIZATION</a:t>
            </a:r>
          </a:p>
        </p:txBody>
      </p:sp>
      <p:sp>
        <p:nvSpPr>
          <p:cNvPr id="466" name="MDS projection and silhouette analysi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MDS projection and silhouette analysis</a:t>
            </a:r>
          </a:p>
        </p:txBody>
      </p:sp>
      <p:sp>
        <p:nvSpPr>
          <p:cNvPr id="467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8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69" name="FedHome | 22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22</a:t>
            </a:r>
          </a:p>
        </p:txBody>
      </p:sp>
      <p:pic>
        <p:nvPicPr>
          <p:cNvPr id="470" name="image7.png" descr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4580" y="1524000"/>
            <a:ext cx="4847839" cy="3619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7500" y="1799134"/>
            <a:ext cx="4953000" cy="30692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EFFICIENCY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EFFICIENCY</a:t>
            </a:r>
          </a:p>
        </p:txBody>
      </p:sp>
      <p:sp>
        <p:nvSpPr>
          <p:cNvPr id="474" name="Training time per round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Training time per round</a:t>
            </a:r>
          </a:p>
        </p:txBody>
      </p:sp>
      <p:sp>
        <p:nvSpPr>
          <p:cNvPr id="475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6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477" name="FedHome | 23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23</a:t>
            </a:r>
          </a:p>
        </p:txBody>
      </p:sp>
      <p:pic>
        <p:nvPicPr>
          <p:cNvPr id="478" name="image9.png" descr="image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0590" y="1524000"/>
            <a:ext cx="9080319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Rectangle"/>
          <p:cNvSpPr/>
          <p:nvPr/>
        </p:nvSpPr>
        <p:spPr>
          <a:xfrm>
            <a:off x="1428750" y="5524500"/>
            <a:ext cx="2095500" cy="7620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0" name="2.9 min"/>
          <p:cNvSpPr txBox="1"/>
          <p:nvPr/>
        </p:nvSpPr>
        <p:spPr>
          <a:xfrm>
            <a:off x="1684019" y="5734049"/>
            <a:ext cx="15849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2.9 min</a:t>
            </a:r>
          </a:p>
        </p:txBody>
      </p:sp>
      <p:sp>
        <p:nvSpPr>
          <p:cNvPr id="481" name="Baseline total"/>
          <p:cNvSpPr txBox="1"/>
          <p:nvPr/>
        </p:nvSpPr>
        <p:spPr>
          <a:xfrm>
            <a:off x="1684019" y="6103620"/>
            <a:ext cx="158496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Baseline total</a:t>
            </a:r>
          </a:p>
        </p:txBody>
      </p:sp>
      <p:sp>
        <p:nvSpPr>
          <p:cNvPr id="482" name="Rectangle"/>
          <p:cNvSpPr/>
          <p:nvPr/>
        </p:nvSpPr>
        <p:spPr>
          <a:xfrm>
            <a:off x="4286250" y="5524500"/>
            <a:ext cx="2095500" cy="7620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3" name="120.5s"/>
          <p:cNvSpPr txBox="1"/>
          <p:nvPr/>
        </p:nvSpPr>
        <p:spPr>
          <a:xfrm>
            <a:off x="4541519" y="5734049"/>
            <a:ext cx="15849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120.5s</a:t>
            </a:r>
          </a:p>
        </p:txBody>
      </p:sp>
      <p:sp>
        <p:nvSpPr>
          <p:cNvPr id="484" name="Cluster 1"/>
          <p:cNvSpPr txBox="1"/>
          <p:nvPr/>
        </p:nvSpPr>
        <p:spPr>
          <a:xfrm>
            <a:off x="4541519" y="6103620"/>
            <a:ext cx="158496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1</a:t>
            </a:r>
          </a:p>
        </p:txBody>
      </p:sp>
      <p:sp>
        <p:nvSpPr>
          <p:cNvPr id="485" name="Rectangle"/>
          <p:cNvSpPr/>
          <p:nvPr/>
        </p:nvSpPr>
        <p:spPr>
          <a:xfrm>
            <a:off x="7143750" y="5524500"/>
            <a:ext cx="2095500" cy="7620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6" name="122.1s"/>
          <p:cNvSpPr txBox="1"/>
          <p:nvPr/>
        </p:nvSpPr>
        <p:spPr>
          <a:xfrm>
            <a:off x="7399019" y="5734049"/>
            <a:ext cx="15849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122.1s</a:t>
            </a:r>
          </a:p>
        </p:txBody>
      </p:sp>
      <p:sp>
        <p:nvSpPr>
          <p:cNvPr id="487" name="Cluster 2"/>
          <p:cNvSpPr txBox="1"/>
          <p:nvPr/>
        </p:nvSpPr>
        <p:spPr>
          <a:xfrm>
            <a:off x="7399019" y="6103620"/>
            <a:ext cx="158496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2</a:t>
            </a:r>
          </a:p>
        </p:txBody>
      </p:sp>
      <p:sp>
        <p:nvSpPr>
          <p:cNvPr id="488" name="Rectangle"/>
          <p:cNvSpPr/>
          <p:nvPr/>
        </p:nvSpPr>
        <p:spPr>
          <a:xfrm>
            <a:off x="9525000" y="5524500"/>
            <a:ext cx="952500" cy="7620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9" name="10s"/>
          <p:cNvSpPr txBox="1"/>
          <p:nvPr/>
        </p:nvSpPr>
        <p:spPr>
          <a:xfrm>
            <a:off x="9685019" y="5638799"/>
            <a:ext cx="63246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10s</a:t>
            </a:r>
          </a:p>
        </p:txBody>
      </p:sp>
      <p:sp>
        <p:nvSpPr>
          <p:cNvPr id="490" name="Merge"/>
          <p:cNvSpPr txBox="1"/>
          <p:nvPr/>
        </p:nvSpPr>
        <p:spPr>
          <a:xfrm>
            <a:off x="9685019" y="6008370"/>
            <a:ext cx="63246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Merge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3" name="Circle"/>
          <p:cNvSpPr/>
          <p:nvPr/>
        </p:nvSpPr>
        <p:spPr>
          <a:xfrm>
            <a:off x="819150" y="2819400"/>
            <a:ext cx="1104900" cy="11049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4" name="06"/>
          <p:cNvSpPr txBox="1"/>
          <p:nvPr/>
        </p:nvSpPr>
        <p:spPr>
          <a:xfrm>
            <a:off x="1112519" y="3171825"/>
            <a:ext cx="5181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95" name="Conclusion &amp; Future Work"/>
          <p:cNvSpPr txBox="1"/>
          <p:nvPr/>
        </p:nvSpPr>
        <p:spPr>
          <a:xfrm>
            <a:off x="2655569" y="2800350"/>
            <a:ext cx="71475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496" name="Rectangle"/>
          <p:cNvSpPr/>
          <p:nvPr/>
        </p:nvSpPr>
        <p:spPr>
          <a:xfrm>
            <a:off x="552450" y="5905500"/>
            <a:ext cx="24765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7" name="Circle"/>
          <p:cNvSpPr/>
          <p:nvPr/>
        </p:nvSpPr>
        <p:spPr>
          <a:xfrm>
            <a:off x="10591800" y="781050"/>
            <a:ext cx="114300" cy="1143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8" name="Circle"/>
          <p:cNvSpPr/>
          <p:nvPr/>
        </p:nvSpPr>
        <p:spPr>
          <a:xfrm>
            <a:off x="11410950" y="14287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9" name="Circle"/>
          <p:cNvSpPr/>
          <p:nvPr/>
        </p:nvSpPr>
        <p:spPr>
          <a:xfrm>
            <a:off x="952500" y="58293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0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01" name="FedHome | 24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UMMARY"/>
          <p:cNvSpPr txBox="1"/>
          <p:nvPr/>
        </p:nvSpPr>
        <p:spPr>
          <a:xfrm>
            <a:off x="598169" y="285750"/>
            <a:ext cx="4671061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504" name="Key findings at a glance"/>
          <p:cNvSpPr txBox="1"/>
          <p:nvPr/>
        </p:nvSpPr>
        <p:spPr>
          <a:xfrm>
            <a:off x="598169" y="609600"/>
            <a:ext cx="10100311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Key findings at a glance</a:t>
            </a:r>
          </a:p>
        </p:txBody>
      </p:sp>
      <p:sp>
        <p:nvSpPr>
          <p:cNvPr id="505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6" name="Device-Type-Aware Client Clustering for Federated Anomaly Detection"/>
          <p:cNvSpPr txBox="1"/>
          <p:nvPr/>
        </p:nvSpPr>
        <p:spPr>
          <a:xfrm>
            <a:off x="598169" y="6419850"/>
            <a:ext cx="5623561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07" name="FedHome | 03"/>
          <p:cNvSpPr txBox="1"/>
          <p:nvPr/>
        </p:nvSpPr>
        <p:spPr>
          <a:xfrm>
            <a:off x="10237469" y="6419850"/>
            <a:ext cx="1337311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03</a:t>
            </a:r>
          </a:p>
        </p:txBody>
      </p:sp>
      <p:sp>
        <p:nvSpPr>
          <p:cNvPr id="508" name="Rectangle"/>
          <p:cNvSpPr/>
          <p:nvPr/>
        </p:nvSpPr>
        <p:spPr>
          <a:xfrm>
            <a:off x="762000" y="1714500"/>
            <a:ext cx="26670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9" name="0.993082"/>
          <p:cNvSpPr txBox="1"/>
          <p:nvPr/>
        </p:nvSpPr>
        <p:spPr>
          <a:xfrm>
            <a:off x="1017269" y="1924050"/>
            <a:ext cx="2156462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0.993082</a:t>
            </a:r>
          </a:p>
        </p:txBody>
      </p:sp>
      <p:sp>
        <p:nvSpPr>
          <p:cNvPr id="510" name="Ensemble AUC"/>
          <p:cNvSpPr txBox="1"/>
          <p:nvPr/>
        </p:nvSpPr>
        <p:spPr>
          <a:xfrm>
            <a:off x="1017269" y="2476500"/>
            <a:ext cx="21564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Ensemble AUC</a:t>
            </a:r>
          </a:p>
        </p:txBody>
      </p:sp>
      <p:sp>
        <p:nvSpPr>
          <p:cNvPr id="511" name="final result"/>
          <p:cNvSpPr txBox="1"/>
          <p:nvPr/>
        </p:nvSpPr>
        <p:spPr>
          <a:xfrm>
            <a:off x="1017269" y="2895600"/>
            <a:ext cx="21564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final result</a:t>
            </a:r>
          </a:p>
        </p:txBody>
      </p:sp>
      <p:sp>
        <p:nvSpPr>
          <p:cNvPr id="512" name="Rectangle"/>
          <p:cNvSpPr/>
          <p:nvPr/>
        </p:nvSpPr>
        <p:spPr>
          <a:xfrm>
            <a:off x="3810000" y="1714500"/>
            <a:ext cx="26670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3" name="0.970844"/>
          <p:cNvSpPr txBox="1"/>
          <p:nvPr/>
        </p:nvSpPr>
        <p:spPr>
          <a:xfrm>
            <a:off x="4065270" y="1924050"/>
            <a:ext cx="215646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0.970844</a:t>
            </a:r>
          </a:p>
        </p:txBody>
      </p:sp>
      <p:sp>
        <p:nvSpPr>
          <p:cNvPr id="514" name="FedMSE Baseline"/>
          <p:cNvSpPr txBox="1"/>
          <p:nvPr/>
        </p:nvSpPr>
        <p:spPr>
          <a:xfrm>
            <a:off x="4065270" y="2476500"/>
            <a:ext cx="215646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FedMSE Baseline</a:t>
            </a:r>
          </a:p>
        </p:txBody>
      </p:sp>
      <p:sp>
        <p:nvSpPr>
          <p:cNvPr id="515" name="comparison point"/>
          <p:cNvSpPr txBox="1"/>
          <p:nvPr/>
        </p:nvSpPr>
        <p:spPr>
          <a:xfrm>
            <a:off x="4065270" y="2895600"/>
            <a:ext cx="21564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comparison point</a:t>
            </a:r>
          </a:p>
        </p:txBody>
      </p:sp>
      <p:sp>
        <p:nvSpPr>
          <p:cNvPr id="516" name="Rectangle"/>
          <p:cNvSpPr/>
          <p:nvPr/>
        </p:nvSpPr>
        <p:spPr>
          <a:xfrm>
            <a:off x="6858000" y="1714500"/>
            <a:ext cx="26670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7" name="+0.022238"/>
          <p:cNvSpPr txBox="1"/>
          <p:nvPr/>
        </p:nvSpPr>
        <p:spPr>
          <a:xfrm>
            <a:off x="7113269" y="1924050"/>
            <a:ext cx="215646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+0.022238</a:t>
            </a:r>
          </a:p>
        </p:txBody>
      </p:sp>
      <p:sp>
        <p:nvSpPr>
          <p:cNvPr id="518" name="Absolute Gain"/>
          <p:cNvSpPr txBox="1"/>
          <p:nvPr/>
        </p:nvSpPr>
        <p:spPr>
          <a:xfrm>
            <a:off x="7113269" y="2476500"/>
            <a:ext cx="215646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Absolute Gain</a:t>
            </a:r>
          </a:p>
        </p:txBody>
      </p:sp>
      <p:sp>
        <p:nvSpPr>
          <p:cNvPr id="519" name="improvement"/>
          <p:cNvSpPr txBox="1"/>
          <p:nvPr/>
        </p:nvSpPr>
        <p:spPr>
          <a:xfrm>
            <a:off x="7113269" y="2895600"/>
            <a:ext cx="21564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improvement</a:t>
            </a:r>
          </a:p>
        </p:txBody>
      </p:sp>
      <p:sp>
        <p:nvSpPr>
          <p:cNvPr id="520" name="Square"/>
          <p:cNvSpPr/>
          <p:nvPr/>
        </p:nvSpPr>
        <p:spPr>
          <a:xfrm>
            <a:off x="9525000" y="1714500"/>
            <a:ext cx="13335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1" name="50"/>
          <p:cNvSpPr txBox="1"/>
          <p:nvPr/>
        </p:nvSpPr>
        <p:spPr>
          <a:xfrm>
            <a:off x="9730739" y="1874520"/>
            <a:ext cx="92202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522" name="Gateways"/>
          <p:cNvSpPr txBox="1"/>
          <p:nvPr/>
        </p:nvSpPr>
        <p:spPr>
          <a:xfrm>
            <a:off x="9730739" y="2426970"/>
            <a:ext cx="9220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Gateways</a:t>
            </a:r>
          </a:p>
        </p:txBody>
      </p:sp>
      <p:sp>
        <p:nvSpPr>
          <p:cNvPr id="523" name="clients"/>
          <p:cNvSpPr txBox="1"/>
          <p:nvPr/>
        </p:nvSpPr>
        <p:spPr>
          <a:xfrm>
            <a:off x="9730739" y="2846070"/>
            <a:ext cx="9220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clients</a:t>
            </a:r>
          </a:p>
        </p:txBody>
      </p:sp>
      <p:sp>
        <p:nvSpPr>
          <p:cNvPr id="524" name="Rectangle"/>
          <p:cNvSpPr/>
          <p:nvPr/>
        </p:nvSpPr>
        <p:spPr>
          <a:xfrm>
            <a:off x="1714500" y="3429000"/>
            <a:ext cx="28575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5" name="19 &amp; 31"/>
          <p:cNvSpPr txBox="1"/>
          <p:nvPr/>
        </p:nvSpPr>
        <p:spPr>
          <a:xfrm>
            <a:off x="1969770" y="3638550"/>
            <a:ext cx="234696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19 &amp; 31</a:t>
            </a:r>
          </a:p>
        </p:txBody>
      </p:sp>
      <p:sp>
        <p:nvSpPr>
          <p:cNvPr id="526" name="Cluster Sizes"/>
          <p:cNvSpPr txBox="1"/>
          <p:nvPr/>
        </p:nvSpPr>
        <p:spPr>
          <a:xfrm>
            <a:off x="1969770" y="4191000"/>
            <a:ext cx="234696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 Sizes</a:t>
            </a:r>
          </a:p>
        </p:txBody>
      </p:sp>
      <p:sp>
        <p:nvSpPr>
          <p:cNvPr id="527" name="C=2 clusters"/>
          <p:cNvSpPr txBox="1"/>
          <p:nvPr/>
        </p:nvSpPr>
        <p:spPr>
          <a:xfrm>
            <a:off x="1969770" y="4610100"/>
            <a:ext cx="23469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C=2 clusters</a:t>
            </a:r>
          </a:p>
        </p:txBody>
      </p:sp>
      <p:sp>
        <p:nvSpPr>
          <p:cNvPr id="528" name="Rectangle"/>
          <p:cNvSpPr/>
          <p:nvPr/>
        </p:nvSpPr>
        <p:spPr>
          <a:xfrm>
            <a:off x="5143500" y="3429000"/>
            <a:ext cx="28575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9" name="0.3967"/>
          <p:cNvSpPr txBox="1"/>
          <p:nvPr/>
        </p:nvSpPr>
        <p:spPr>
          <a:xfrm>
            <a:off x="5398770" y="3638550"/>
            <a:ext cx="234696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0.3967</a:t>
            </a:r>
          </a:p>
        </p:txBody>
      </p:sp>
      <p:sp>
        <p:nvSpPr>
          <p:cNvPr id="530" name="Silhouette"/>
          <p:cNvSpPr txBox="1"/>
          <p:nvPr/>
        </p:nvSpPr>
        <p:spPr>
          <a:xfrm>
            <a:off x="5398770" y="4191000"/>
            <a:ext cx="234696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Silhouette</a:t>
            </a:r>
          </a:p>
        </p:txBody>
      </p:sp>
      <p:sp>
        <p:nvSpPr>
          <p:cNvPr id="531" name="clustering quality"/>
          <p:cNvSpPr txBox="1"/>
          <p:nvPr/>
        </p:nvSpPr>
        <p:spPr>
          <a:xfrm>
            <a:off x="5398770" y="4610100"/>
            <a:ext cx="23469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clustering quality</a:t>
            </a:r>
          </a:p>
        </p:txBody>
      </p:sp>
      <p:sp>
        <p:nvSpPr>
          <p:cNvPr id="532" name="Rectangle"/>
          <p:cNvSpPr/>
          <p:nvPr/>
        </p:nvSpPr>
        <p:spPr>
          <a:xfrm>
            <a:off x="8572500" y="3429000"/>
            <a:ext cx="2286000" cy="133350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3" name="2.9 min"/>
          <p:cNvSpPr txBox="1"/>
          <p:nvPr/>
        </p:nvSpPr>
        <p:spPr>
          <a:xfrm>
            <a:off x="8827769" y="3638550"/>
            <a:ext cx="177546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2.9 min</a:t>
            </a:r>
          </a:p>
        </p:txBody>
      </p:sp>
      <p:sp>
        <p:nvSpPr>
          <p:cNvPr id="534" name="Baseline Time"/>
          <p:cNvSpPr txBox="1"/>
          <p:nvPr/>
        </p:nvSpPr>
        <p:spPr>
          <a:xfrm>
            <a:off x="8827769" y="4191000"/>
            <a:ext cx="177546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Baseline Time</a:t>
            </a:r>
          </a:p>
        </p:txBody>
      </p:sp>
      <p:sp>
        <p:nvSpPr>
          <p:cNvPr id="535" name="total training"/>
          <p:cNvSpPr txBox="1"/>
          <p:nvPr/>
        </p:nvSpPr>
        <p:spPr>
          <a:xfrm>
            <a:off x="8827769" y="4610100"/>
            <a:ext cx="17754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total training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ONCLUSION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538" name="FedHome achieved the research objective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achieved the research objective</a:t>
            </a:r>
          </a:p>
        </p:txBody>
      </p:sp>
      <p:sp>
        <p:nvSpPr>
          <p:cNvPr id="539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0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41" name="FedHome | 25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25</a:t>
            </a:r>
          </a:p>
        </p:txBody>
      </p:sp>
      <p:sp>
        <p:nvSpPr>
          <p:cNvPr id="542" name="Rectangle"/>
          <p:cNvSpPr/>
          <p:nvPr/>
        </p:nvSpPr>
        <p:spPr>
          <a:xfrm>
            <a:off x="762000" y="1809750"/>
            <a:ext cx="10477500" cy="2667000"/>
          </a:xfrm>
          <a:prstGeom prst="rect">
            <a:avLst/>
          </a:prstGeom>
          <a:solidFill>
            <a:srgbClr val="171C34"/>
          </a:solidFill>
          <a:ln>
            <a:solidFill>
              <a:srgbClr val="171C3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3" name="Main Finding"/>
          <p:cNvSpPr txBox="1"/>
          <p:nvPr/>
        </p:nvSpPr>
        <p:spPr>
          <a:xfrm>
            <a:off x="998219" y="2000250"/>
            <a:ext cx="1000506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8B7B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Main Finding</a:t>
            </a:r>
          </a:p>
        </p:txBody>
      </p:sp>
      <p:sp>
        <p:nvSpPr>
          <p:cNvPr id="544" name="Under a reproducible 50-gateway Non-IID evaluation, cluster-aware federation achieved 0.993082 average AUC, outperforming FedMSE baseline (0.970844) by +0.022238 points."/>
          <p:cNvSpPr txBox="1"/>
          <p:nvPr/>
        </p:nvSpPr>
        <p:spPr>
          <a:xfrm>
            <a:off x="998219" y="2333625"/>
            <a:ext cx="10005062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Under a reproducible 50-gateway Non-IID evaluation, cluster-aware federation achieved 0.993082 average AUC, outperforming FedMSE baseline (0.970844) by +0.022238 points.</a:t>
            </a:r>
          </a:p>
        </p:txBody>
      </p:sp>
      <p:sp>
        <p:nvSpPr>
          <p:cNvPr id="545" name="Rectangle"/>
          <p:cNvSpPr/>
          <p:nvPr/>
        </p:nvSpPr>
        <p:spPr>
          <a:xfrm>
            <a:off x="952500" y="3286125"/>
            <a:ext cx="9906000" cy="19050"/>
          </a:xfrm>
          <a:prstGeom prst="rect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6" name="This demonstrates that accounting for client heterogeneity through device-type clustering improves privacy-preserving IoT anomaly detection under high Non-IID conditions."/>
          <p:cNvSpPr txBox="1"/>
          <p:nvPr/>
        </p:nvSpPr>
        <p:spPr>
          <a:xfrm>
            <a:off x="998219" y="3429000"/>
            <a:ext cx="1000506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5E7E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This demonstrates that accounting for client heterogeneity through device-type clustering improves privacy-preserving IoT anomaly detection under high Non-IID conditions.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FUTURE DIRECTIONS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FUTURE DIRECTIONS</a:t>
            </a:r>
          </a:p>
        </p:txBody>
      </p:sp>
      <p:sp>
        <p:nvSpPr>
          <p:cNvPr id="549" name="Promising research extension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Promising research extensions</a:t>
            </a:r>
          </a:p>
        </p:txBody>
      </p:sp>
      <p:sp>
        <p:nvSpPr>
          <p:cNvPr id="550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1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52" name="FedHome | 27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27</a:t>
            </a:r>
          </a:p>
        </p:txBody>
      </p:sp>
      <p:sp>
        <p:nvSpPr>
          <p:cNvPr id="553" name="Rectangle"/>
          <p:cNvSpPr/>
          <p:nvPr/>
        </p:nvSpPr>
        <p:spPr>
          <a:xfrm>
            <a:off x="666750" y="1905000"/>
            <a:ext cx="5143500" cy="1619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4" name="Row-Level Labels"/>
          <p:cNvSpPr txBox="1"/>
          <p:nvPr/>
        </p:nvSpPr>
        <p:spPr>
          <a:xfrm>
            <a:off x="902969" y="2047875"/>
            <a:ext cx="46710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Row-Level Labels</a:t>
            </a:r>
          </a:p>
        </p:txBody>
      </p:sp>
      <p:sp>
        <p:nvSpPr>
          <p:cNvPr id="555" name="Replace traffic archetypes with ground-truth device identity where available"/>
          <p:cNvSpPr txBox="1"/>
          <p:nvPr/>
        </p:nvSpPr>
        <p:spPr>
          <a:xfrm>
            <a:off x="902969" y="2381250"/>
            <a:ext cx="46710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Replace traffic archetypes with ground-truth device identity where available</a:t>
            </a:r>
          </a:p>
        </p:txBody>
      </p:sp>
      <p:sp>
        <p:nvSpPr>
          <p:cNvPr id="556" name="Rectangle"/>
          <p:cNvSpPr/>
          <p:nvPr/>
        </p:nvSpPr>
        <p:spPr>
          <a:xfrm>
            <a:off x="6381750" y="1905000"/>
            <a:ext cx="5143500" cy="1619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7" name="More Baseline Comparison"/>
          <p:cNvSpPr txBox="1"/>
          <p:nvPr/>
        </p:nvSpPr>
        <p:spPr>
          <a:xfrm>
            <a:off x="6617969" y="2047875"/>
            <a:ext cx="46710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More Baseline Comparison</a:t>
            </a:r>
          </a:p>
        </p:txBody>
      </p:sp>
      <p:sp>
        <p:nvSpPr>
          <p:cNvPr id="558" name="Compare against FedProx, IFCA, and Ditto on same N-BaIoT scenario"/>
          <p:cNvSpPr txBox="1"/>
          <p:nvPr/>
        </p:nvSpPr>
        <p:spPr>
          <a:xfrm>
            <a:off x="6617969" y="2381250"/>
            <a:ext cx="46710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Compare against FedProx, IFCA, and Ditto on same N-BaIoT scenario</a:t>
            </a:r>
          </a:p>
        </p:txBody>
      </p:sp>
      <p:sp>
        <p:nvSpPr>
          <p:cNvPr id="559" name="Rectangle"/>
          <p:cNvSpPr/>
          <p:nvPr/>
        </p:nvSpPr>
        <p:spPr>
          <a:xfrm>
            <a:off x="666750" y="3810000"/>
            <a:ext cx="5143500" cy="1619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0" name="Multi-Node Scaling"/>
          <p:cNvSpPr txBox="1"/>
          <p:nvPr/>
        </p:nvSpPr>
        <p:spPr>
          <a:xfrm>
            <a:off x="902969" y="3952875"/>
            <a:ext cx="46710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Multi-Node Scaling</a:t>
            </a:r>
          </a:p>
        </p:txBody>
      </p:sp>
      <p:sp>
        <p:nvSpPr>
          <p:cNvPr id="561" name="Deploy Spark pipeline to multi-node cluster and measure scaling"/>
          <p:cNvSpPr txBox="1"/>
          <p:nvPr/>
        </p:nvSpPr>
        <p:spPr>
          <a:xfrm>
            <a:off x="902969" y="4286250"/>
            <a:ext cx="46710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Deploy Spark pipeline to multi-node cluster and measure scaling</a:t>
            </a:r>
          </a:p>
        </p:txBody>
      </p:sp>
      <p:sp>
        <p:nvSpPr>
          <p:cNvPr id="562" name="Rectangle"/>
          <p:cNvSpPr/>
          <p:nvPr/>
        </p:nvSpPr>
        <p:spPr>
          <a:xfrm>
            <a:off x="6381750" y="3810000"/>
            <a:ext cx="5143500" cy="1619250"/>
          </a:xfrm>
          <a:prstGeom prst="rect">
            <a:avLst/>
          </a:prstGeom>
          <a:solidFill>
            <a:srgbClr val="EEF6F8"/>
          </a:solidFill>
          <a:ln>
            <a:solidFill>
              <a:srgbClr val="D5E6E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3" name="Dynamic Clustering"/>
          <p:cNvSpPr txBox="1"/>
          <p:nvPr/>
        </p:nvSpPr>
        <p:spPr>
          <a:xfrm>
            <a:off x="6617969" y="3952875"/>
            <a:ext cx="467106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71C34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Dynamic Clustering</a:t>
            </a:r>
          </a:p>
        </p:txBody>
      </p:sp>
      <p:sp>
        <p:nvSpPr>
          <p:cNvPr id="564" name="Explore per-round adaptive clustering based on convergence curves"/>
          <p:cNvSpPr txBox="1"/>
          <p:nvPr/>
        </p:nvSpPr>
        <p:spPr>
          <a:xfrm>
            <a:off x="6617969" y="4286250"/>
            <a:ext cx="46710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Explore per-round adaptive clustering based on convergence curves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CONTRIBUTIONS"/>
          <p:cNvSpPr txBox="1"/>
          <p:nvPr/>
        </p:nvSpPr>
        <p:spPr>
          <a:xfrm>
            <a:off x="598169" y="285750"/>
            <a:ext cx="4671062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087E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CONTRIBUTIONS</a:t>
            </a:r>
          </a:p>
        </p:txBody>
      </p:sp>
      <p:sp>
        <p:nvSpPr>
          <p:cNvPr id="567" name="Engineering and empirical outcomes"/>
          <p:cNvSpPr txBox="1"/>
          <p:nvPr/>
        </p:nvSpPr>
        <p:spPr>
          <a:xfrm>
            <a:off x="598169" y="609600"/>
            <a:ext cx="1010031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Engineering and empirical outcomes</a:t>
            </a:r>
          </a:p>
        </p:txBody>
      </p:sp>
      <p:sp>
        <p:nvSpPr>
          <p:cNvPr id="568" name="Rectangle"/>
          <p:cNvSpPr/>
          <p:nvPr/>
        </p:nvSpPr>
        <p:spPr>
          <a:xfrm>
            <a:off x="552450" y="1352550"/>
            <a:ext cx="11087100" cy="19050"/>
          </a:xfrm>
          <a:prstGeom prst="rect">
            <a:avLst/>
          </a:prstGeom>
          <a:solidFill>
            <a:srgbClr val="D9E5E8"/>
          </a:solidFill>
          <a:ln>
            <a:solidFill>
              <a:srgbClr val="D9E5E8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9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70" name="FedHome | 28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748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28</a:t>
            </a:r>
          </a:p>
        </p:txBody>
      </p:sp>
      <p:sp>
        <p:nvSpPr>
          <p:cNvPr id="571" name="Circle"/>
          <p:cNvSpPr/>
          <p:nvPr/>
        </p:nvSpPr>
        <p:spPr>
          <a:xfrm>
            <a:off x="762000" y="190500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2" name="Deterministic split-manifest framework for reproducible FL baselines"/>
          <p:cNvSpPr txBox="1"/>
          <p:nvPr/>
        </p:nvSpPr>
        <p:spPr>
          <a:xfrm>
            <a:off x="1188719" y="182880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Deterministic split-manifest framework for reproducible FL baselines</a:t>
            </a:r>
          </a:p>
        </p:txBody>
      </p:sp>
      <p:sp>
        <p:nvSpPr>
          <p:cNvPr id="573" name="Circle"/>
          <p:cNvSpPr/>
          <p:nvPr/>
        </p:nvSpPr>
        <p:spPr>
          <a:xfrm>
            <a:off x="762000" y="238125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4" name="Spark-assisted Phase 2 preprocessing pipeline (scalability-ready architecture)"/>
          <p:cNvSpPr txBox="1"/>
          <p:nvPr/>
        </p:nvSpPr>
        <p:spPr>
          <a:xfrm>
            <a:off x="1188719" y="230505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Spark-assisted Phase 2 preprocessing pipeline (scalability-ready architecture)</a:t>
            </a:r>
          </a:p>
        </p:txBody>
      </p:sp>
      <p:sp>
        <p:nvSpPr>
          <p:cNvPr id="575" name="Circle"/>
          <p:cNvSpPr/>
          <p:nvPr/>
        </p:nvSpPr>
        <p:spPr>
          <a:xfrm>
            <a:off x="762000" y="285750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6" name="JS-divergence clustering workflow with Ward hierarchical clustering"/>
          <p:cNvSpPr txBox="1"/>
          <p:nvPr/>
        </p:nvSpPr>
        <p:spPr>
          <a:xfrm>
            <a:off x="1188719" y="278130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JS-divergence clustering workflow with Ward hierarchical clustering</a:t>
            </a:r>
          </a:p>
        </p:txBody>
      </p:sp>
      <p:sp>
        <p:nvSpPr>
          <p:cNvPr id="577" name="Circle"/>
          <p:cNvSpPr/>
          <p:nvPr/>
        </p:nvSpPr>
        <p:spPr>
          <a:xfrm>
            <a:off x="762000" y="333375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8" name="Cluster-aware federated training implementation (per-cluster FedMSE)"/>
          <p:cNvSpPr txBox="1"/>
          <p:nvPr/>
        </p:nvSpPr>
        <p:spPr>
          <a:xfrm>
            <a:off x="1188719" y="325755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Cluster-aware federated training implementation (per-cluster FedMSE)</a:t>
            </a:r>
          </a:p>
        </p:txBody>
      </p:sp>
      <p:sp>
        <p:nvSpPr>
          <p:cNvPr id="579" name="Circle"/>
          <p:cNvSpPr/>
          <p:nvPr/>
        </p:nvSpPr>
        <p:spPr>
          <a:xfrm>
            <a:off x="762000" y="381000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0" name="Weighted ensemble merge preserving cluster specialization"/>
          <p:cNvSpPr txBox="1"/>
          <p:nvPr/>
        </p:nvSpPr>
        <p:spPr>
          <a:xfrm>
            <a:off x="1188719" y="373380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Weighted ensemble merge preserving cluster specialization</a:t>
            </a:r>
          </a:p>
        </p:txBody>
      </p:sp>
      <p:sp>
        <p:nvSpPr>
          <p:cNvPr id="581" name="Circle"/>
          <p:cNvSpPr/>
          <p:nvPr/>
        </p:nvSpPr>
        <p:spPr>
          <a:xfrm>
            <a:off x="762000" y="428625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2" name="Empirical demonstration: +0.022238 AUC gain over strong FedMSE baseline"/>
          <p:cNvSpPr txBox="1"/>
          <p:nvPr/>
        </p:nvSpPr>
        <p:spPr>
          <a:xfrm>
            <a:off x="1188719" y="421005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Empirical demonstration: +0.022238 AUC gain over strong FedMSE baseline</a:t>
            </a:r>
          </a:p>
        </p:txBody>
      </p:sp>
      <p:sp>
        <p:nvSpPr>
          <p:cNvPr id="583" name="Circle"/>
          <p:cNvSpPr/>
          <p:nvPr/>
        </p:nvSpPr>
        <p:spPr>
          <a:xfrm>
            <a:off x="762000" y="4762500"/>
            <a:ext cx="190500" cy="190500"/>
          </a:xfrm>
          <a:prstGeom prst="ellipse">
            <a:avLst/>
          </a:prstGeom>
          <a:solidFill>
            <a:srgbClr val="18B7B1"/>
          </a:solidFill>
          <a:ln>
            <a:solidFill>
              <a:srgbClr val="18B7B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4" name="Comprehensive evaluation on 50-gateway Non-IID N-BaIoT dataset"/>
          <p:cNvSpPr txBox="1"/>
          <p:nvPr/>
        </p:nvSpPr>
        <p:spPr>
          <a:xfrm>
            <a:off x="1188719" y="4686300"/>
            <a:ext cx="10195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26304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Comprehensive evaluation on 50-gateway Non-IID N-BaIoT dataset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HANK YOU"/>
          <p:cNvSpPr txBox="1"/>
          <p:nvPr/>
        </p:nvSpPr>
        <p:spPr>
          <a:xfrm>
            <a:off x="8903969" y="819150"/>
            <a:ext cx="181356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18B7B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87" name="Questions?"/>
          <p:cNvSpPr txBox="1"/>
          <p:nvPr/>
        </p:nvSpPr>
        <p:spPr>
          <a:xfrm>
            <a:off x="6903719" y="2838450"/>
            <a:ext cx="3909062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588" name="Md. Raihan Sobhan…"/>
          <p:cNvSpPr txBox="1"/>
          <p:nvPr/>
        </p:nvSpPr>
        <p:spPr>
          <a:xfrm>
            <a:off x="7780019" y="3695700"/>
            <a:ext cx="3032762" cy="510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Md. Raihan Sobhan</a:t>
            </a:r>
          </a:p>
          <a:p>
            <a:pPr algn="r"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Big Data Analytics</a:t>
            </a:r>
          </a:p>
          <a:p>
            <a:pPr algn="r">
              <a:defRPr sz="900">
                <a:solidFill>
                  <a:srgbClr val="E2E8F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FedHome final presentation</a:t>
            </a:r>
          </a:p>
        </p:txBody>
      </p:sp>
      <p:sp>
        <p:nvSpPr>
          <p:cNvPr id="589" name="Rectangle"/>
          <p:cNvSpPr/>
          <p:nvPr/>
        </p:nvSpPr>
        <p:spPr>
          <a:xfrm>
            <a:off x="1257300" y="4953000"/>
            <a:ext cx="3048000" cy="19050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0" name="Circle"/>
          <p:cNvSpPr/>
          <p:nvPr/>
        </p:nvSpPr>
        <p:spPr>
          <a:xfrm>
            <a:off x="1714500" y="55245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1" name="Circle"/>
          <p:cNvSpPr/>
          <p:nvPr/>
        </p:nvSpPr>
        <p:spPr>
          <a:xfrm>
            <a:off x="2305050" y="575310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2" name="Circle"/>
          <p:cNvSpPr/>
          <p:nvPr/>
        </p:nvSpPr>
        <p:spPr>
          <a:xfrm>
            <a:off x="2895600" y="5429250"/>
            <a:ext cx="76200" cy="76200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3" name="Device-Type-Aware Client Clustering for Federated Anomaly Detection"/>
          <p:cNvSpPr txBox="1"/>
          <p:nvPr/>
        </p:nvSpPr>
        <p:spPr>
          <a:xfrm>
            <a:off x="598169" y="6419850"/>
            <a:ext cx="562356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Device-Type-Aware Client Clustering for Federated Anomaly Detection</a:t>
            </a:r>
          </a:p>
        </p:txBody>
      </p:sp>
      <p:sp>
        <p:nvSpPr>
          <p:cNvPr id="594" name="FedHome | 29"/>
          <p:cNvSpPr txBox="1"/>
          <p:nvPr/>
        </p:nvSpPr>
        <p:spPr>
          <a:xfrm>
            <a:off x="10237469" y="6419850"/>
            <a:ext cx="1337312" cy="19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CAD5E1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FedHome | 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