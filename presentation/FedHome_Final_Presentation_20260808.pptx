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2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3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548a6f7c564ef4" /><Relationship Type="http://schemas.openxmlformats.org/officeDocument/2006/relationships/extended-properties" Target="/docProps/app.xml" Id="R3c0cfdd2c26e4ab1" /><Relationship Type="http://schemas.openxmlformats.org/officeDocument/2006/relationships/officeDocument" Target="/ppt/presentation.xml" Id="R5511b0d7f82c47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e6977054824f90"/>
  </p:sldMasterIdLst>
  <p:notesMasterIdLst>
    <p:notesMasterId xmlns:r="http://schemas.openxmlformats.org/officeDocument/2006/relationships" r:id="R1a87a988c8254b24"/>
  </p:notesMasterIdLst>
  <p:sldIdLst>
    <p:sldId xmlns:r="http://schemas.openxmlformats.org/officeDocument/2006/relationships" id="256" r:id="R5252cd6d24be4e5e"/>
    <p:sldId xmlns:r="http://schemas.openxmlformats.org/officeDocument/2006/relationships" id="257" r:id="R6841e1949e4446be"/>
    <p:sldId xmlns:r="http://schemas.openxmlformats.org/officeDocument/2006/relationships" id="258" r:id="Rbb52d22dfe6d4488"/>
    <p:sldId xmlns:r="http://schemas.openxmlformats.org/officeDocument/2006/relationships" id="259" r:id="R9779946e62de4efc"/>
    <p:sldId xmlns:r="http://schemas.openxmlformats.org/officeDocument/2006/relationships" id="260" r:id="Rf19448ccfb764fa0"/>
    <p:sldId xmlns:r="http://schemas.openxmlformats.org/officeDocument/2006/relationships" id="261" r:id="R0cb7fc189b6a4d45"/>
    <p:sldId xmlns:r="http://schemas.openxmlformats.org/officeDocument/2006/relationships" id="262" r:id="R1c550c2b4e6a4382"/>
    <p:sldId xmlns:r="http://schemas.openxmlformats.org/officeDocument/2006/relationships" id="263" r:id="Ree73a3f54aab41df"/>
    <p:sldId xmlns:r="http://schemas.openxmlformats.org/officeDocument/2006/relationships" id="264" r:id="Rd2da7d4e35204f28"/>
    <p:sldId xmlns:r="http://schemas.openxmlformats.org/officeDocument/2006/relationships" id="265" r:id="R2ec3b4a0abdc407f"/>
    <p:sldId xmlns:r="http://schemas.openxmlformats.org/officeDocument/2006/relationships" id="266" r:id="R46e8f10182004421"/>
    <p:sldId xmlns:r="http://schemas.openxmlformats.org/officeDocument/2006/relationships" id="267" r:id="R6a8cee275a2a468f"/>
    <p:sldId xmlns:r="http://schemas.openxmlformats.org/officeDocument/2006/relationships" id="268" r:id="Rca5c419767704124"/>
    <p:sldId xmlns:r="http://schemas.openxmlformats.org/officeDocument/2006/relationships" id="269" r:id="R12356b178bbb4be9"/>
    <p:sldId xmlns:r="http://schemas.openxmlformats.org/officeDocument/2006/relationships" id="270" r:id="R62a80691a2584a3e"/>
    <p:sldId xmlns:r="http://schemas.openxmlformats.org/officeDocument/2006/relationships" id="271" r:id="R97a5420f02754b4e"/>
    <p:sldId xmlns:r="http://schemas.openxmlformats.org/officeDocument/2006/relationships" id="272" r:id="Rc2ff2184379344cb"/>
    <p:sldId xmlns:r="http://schemas.openxmlformats.org/officeDocument/2006/relationships" id="273" r:id="Rfffbed30bc054987"/>
    <p:sldId xmlns:r="http://schemas.openxmlformats.org/officeDocument/2006/relationships" id="274" r:id="R4129a63e6ba2457d"/>
    <p:sldId xmlns:r="http://schemas.openxmlformats.org/officeDocument/2006/relationships" id="275" r:id="R988fd76bbec0433b"/>
    <p:sldId xmlns:r="http://schemas.openxmlformats.org/officeDocument/2006/relationships" id="276" r:id="Rbe5ba4d074474143"/>
    <p:sldId xmlns:r="http://schemas.openxmlformats.org/officeDocument/2006/relationships" id="277" r:id="R24c4f1d17e284f9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13b509b2de463a" /><Relationship Type="http://schemas.openxmlformats.org/officeDocument/2006/relationships/slideMaster" Target="/ppt/slideMasters/slideMaster1.xml" Id="R2ae6977054824f90" /><Relationship Type="http://schemas.openxmlformats.org/officeDocument/2006/relationships/notesMaster" Target="/ppt/notesMasters/notesMaster1.xml" Id="R1a87a988c8254b24" /><Relationship Type="http://schemas.openxmlformats.org/officeDocument/2006/relationships/presProps" Target="/ppt/presProps.xml" Id="R3f45c0d4fb5f4c5c" /><Relationship Type="http://schemas.openxmlformats.org/officeDocument/2006/relationships/tableStyles" Target="/ppt/tableStyles.xml" Id="R61536c0dcedb4279" /><Relationship Type="http://schemas.openxmlformats.org/officeDocument/2006/relationships/slide" Target="/ppt/slides/slide1.xml" Id="R5252cd6d24be4e5e" /><Relationship Type="http://schemas.openxmlformats.org/officeDocument/2006/relationships/slide" Target="/ppt/slides/slide2.xml" Id="R6841e1949e4446be" /><Relationship Type="http://schemas.openxmlformats.org/officeDocument/2006/relationships/slide" Target="/ppt/slides/slide3.xml" Id="Rbb52d22dfe6d4488" /><Relationship Type="http://schemas.openxmlformats.org/officeDocument/2006/relationships/slide" Target="/ppt/slides/slide4.xml" Id="R9779946e62de4efc" /><Relationship Type="http://schemas.openxmlformats.org/officeDocument/2006/relationships/slide" Target="/ppt/slides/slide5.xml" Id="Rf19448ccfb764fa0" /><Relationship Type="http://schemas.openxmlformats.org/officeDocument/2006/relationships/slide" Target="/ppt/slides/slide6.xml" Id="R0cb7fc189b6a4d45" /><Relationship Type="http://schemas.openxmlformats.org/officeDocument/2006/relationships/slide" Target="/ppt/slides/slide7.xml" Id="R1c550c2b4e6a4382" /><Relationship Type="http://schemas.openxmlformats.org/officeDocument/2006/relationships/slide" Target="/ppt/slides/slide8.xml" Id="Ree73a3f54aab41df" /><Relationship Type="http://schemas.openxmlformats.org/officeDocument/2006/relationships/slide" Target="/ppt/slides/slide9.xml" Id="Rd2da7d4e35204f28" /><Relationship Type="http://schemas.openxmlformats.org/officeDocument/2006/relationships/slide" Target="/ppt/slides/slide10.xml" Id="R2ec3b4a0abdc407f" /><Relationship Type="http://schemas.openxmlformats.org/officeDocument/2006/relationships/slide" Target="/ppt/slides/slide11.xml" Id="R46e8f10182004421" /><Relationship Type="http://schemas.openxmlformats.org/officeDocument/2006/relationships/slide" Target="/ppt/slides/slide12.xml" Id="R6a8cee275a2a468f" /><Relationship Type="http://schemas.openxmlformats.org/officeDocument/2006/relationships/slide" Target="/ppt/slides/slide13.xml" Id="Rca5c419767704124" /><Relationship Type="http://schemas.openxmlformats.org/officeDocument/2006/relationships/slide" Target="/ppt/slides/slide14.xml" Id="R12356b178bbb4be9" /><Relationship Type="http://schemas.openxmlformats.org/officeDocument/2006/relationships/slide" Target="/ppt/slides/slide15.xml" Id="R62a80691a2584a3e" /><Relationship Type="http://schemas.openxmlformats.org/officeDocument/2006/relationships/slide" Target="/ppt/slides/slide16.xml" Id="R97a5420f02754b4e" /><Relationship Type="http://schemas.openxmlformats.org/officeDocument/2006/relationships/slide" Target="/ppt/slides/slide17.xml" Id="Rc2ff2184379344cb" /><Relationship Type="http://schemas.openxmlformats.org/officeDocument/2006/relationships/slide" Target="/ppt/slides/slide18.xml" Id="Rfffbed30bc054987" /><Relationship Type="http://schemas.openxmlformats.org/officeDocument/2006/relationships/slide" Target="/ppt/slides/slide19.xml" Id="R4129a63e6ba2457d" /><Relationship Type="http://schemas.openxmlformats.org/officeDocument/2006/relationships/slide" Target="/ppt/slides/slide20.xml" Id="R988fd76bbec0433b" /><Relationship Type="http://schemas.openxmlformats.org/officeDocument/2006/relationships/slide" Target="/ppt/slides/slide21.xml" Id="Rbe5ba4d074474143" /><Relationship Type="http://schemas.openxmlformats.org/officeDocument/2006/relationships/slide" Target="/ppt/slides/slide22.xml" Id="R24c4f1d17e284f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960d7ab39545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63b61553ab4a09" /><Relationship Type="http://schemas.openxmlformats.org/officeDocument/2006/relationships/notesMaster" Target="/ppt/notesMasters/notesMaster1.xml" Id="R819a482ce00947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008b7061dc4669" /><Relationship Type="http://schemas.openxmlformats.org/officeDocument/2006/relationships/notesMaster" Target="/ppt/notesMasters/notesMaster1.xml" Id="Rb164330d7bd143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ade17a004f4273" /><Relationship Type="http://schemas.openxmlformats.org/officeDocument/2006/relationships/notesMaster" Target="/ppt/notesMasters/notesMaster1.xml" Id="R0b8459e3db5340e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d533cd8bad46be" /><Relationship Type="http://schemas.openxmlformats.org/officeDocument/2006/relationships/notesMaster" Target="/ppt/notesMasters/notesMaster1.xml" Id="Rf79e84411955483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61c5fbec7d4bd4" /><Relationship Type="http://schemas.openxmlformats.org/officeDocument/2006/relationships/notesMaster" Target="/ppt/notesMasters/notesMaster1.xml" Id="Rf4111eea7ee74f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b144d310244f84" /><Relationship Type="http://schemas.openxmlformats.org/officeDocument/2006/relationships/notesMaster" Target="/ppt/notesMasters/notesMaster1.xml" Id="Rf6c5ba230e924a3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1c39b5737784697" /><Relationship Type="http://schemas.openxmlformats.org/officeDocument/2006/relationships/notesMaster" Target="/ppt/notesMasters/notesMaster1.xml" Id="R684a33ae96e7497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9a5557ef5294925" /><Relationship Type="http://schemas.openxmlformats.org/officeDocument/2006/relationships/notesMaster" Target="/ppt/notesMasters/notesMaster1.xml" Id="R13116314e6e5454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c92ebe34092441e" /><Relationship Type="http://schemas.openxmlformats.org/officeDocument/2006/relationships/notesMaster" Target="/ppt/notesMasters/notesMaster1.xml" Id="R6166fda281f74c5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ea8859eb6344e9b" /><Relationship Type="http://schemas.openxmlformats.org/officeDocument/2006/relationships/notesMaster" Target="/ppt/notesMasters/notesMaster1.xml" Id="R82da90147234424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f3445b7142647b2" /><Relationship Type="http://schemas.openxmlformats.org/officeDocument/2006/relationships/notesMaster" Target="/ppt/notesMasters/notesMaster1.xml" Id="R6986877e0d10437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1190d0fb61a4867" /><Relationship Type="http://schemas.openxmlformats.org/officeDocument/2006/relationships/notesMaster" Target="/ppt/notesMasters/notesMaster1.xml" Id="Re849e083175a42c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250e891320147ad" /><Relationship Type="http://schemas.openxmlformats.org/officeDocument/2006/relationships/notesMaster" Target="/ppt/notesMasters/notesMaster1.xml" Id="R6aa1d9efd3e1453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8e64a7c495b4878" /><Relationship Type="http://schemas.openxmlformats.org/officeDocument/2006/relationships/notesMaster" Target="/ppt/notesMasters/notesMaster1.xml" Id="R6bd9d6be2cf446e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b55e2a8216342a5" /><Relationship Type="http://schemas.openxmlformats.org/officeDocument/2006/relationships/notesMaster" Target="/ppt/notesMasters/notesMaster1.xml" Id="R1cdbf60eaf04451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0b358ec62df4224" /><Relationship Type="http://schemas.openxmlformats.org/officeDocument/2006/relationships/notesMaster" Target="/ppt/notesMasters/notesMaster1.xml" Id="R04eb7bd8e10342f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e3db50f46f84941" /><Relationship Type="http://schemas.openxmlformats.org/officeDocument/2006/relationships/notesMaster" Target="/ppt/notesMasters/notesMaster1.xml" Id="R2b384aaae695477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9e3ef3111c14505" /><Relationship Type="http://schemas.openxmlformats.org/officeDocument/2006/relationships/notesMaster" Target="/ppt/notesMasters/notesMaster1.xml" Id="R31749a9305d24a9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2c21a60ed594b78" /><Relationship Type="http://schemas.openxmlformats.org/officeDocument/2006/relationships/notesMaster" Target="/ppt/notesMasters/notesMaster1.xml" Id="Rd39c567ab579455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ba0f3440e3241b8" /><Relationship Type="http://schemas.openxmlformats.org/officeDocument/2006/relationships/notesMaster" Target="/ppt/notesMasters/notesMaster1.xml" Id="R80111eff7d8c420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04a555876d041a3" /><Relationship Type="http://schemas.openxmlformats.org/officeDocument/2006/relationships/notesMaster" Target="/ppt/notesMasters/notesMaster1.xml" Id="R5012f4bd549047c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f2037f92f2741fa" /><Relationship Type="http://schemas.openxmlformats.org/officeDocument/2006/relationships/notesMaster" Target="/ppt/notesMasters/notesMaster1.xml" Id="R0326094a404b41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PROJECT_REPORT.md, Executive Summary and Results; FINAL_RESULTS_20260808.md headline metrics.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PROJECT_REPORT.md Sections 2, 3, and 7; N-BaIoT and FedMSE references listed in PROJECT_REPORT.md.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PROJECT_REPORT.md Sections 4 and 5; references include Nguyen and Beuran (2025), McMahan et al. (2017), and Li et al. (2020).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PROJECT_REPORT.md Section 4 explains SAE-CEN and MSEAvg; Nguyen and Beuran (2025) is cited in the report references.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PROJECT_REPORT.md Section 5 describes the FedHome method and achieved ensemble merge rule.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PROJECT_REPORT.md Section 6.4 and 6.5; source modules under src/fedhome/ and scripts/.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PROJECT_REPORT.md Section 6.3; FINAL_RESULTS_20260808.md authoritative artifacts; results/EXPERIMENT_LOG.md reproducibility gate entries.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PROJECT_REPORT.md Section 7; configuration values are copied from the final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PROJECT_REPORT.md Section 8.2; /Users/raihansobhan/Documents/10. Self Learning/Big Data Analytics/Project/FedHome_Spark/presentation/assets_20260808/tables/phase2_benchmark_summary.csv; results/EXPERIMENT_LOG.md Phase 2 entries.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PROJECT_REPORT.md Section 8.3; /Users/raihansobhan/Documents/10. Self Learning/Big Data Analytics/Project/FedHome_Spark/presentation/assets_20260808/figures/mds_clusters_phase3.png; /Users/raihansobhan/Documents/10. Self Learning/Big Data Analytics/Project/FedHome_Spark/presentation/assets_20260808/tables/phase3_clustering_summary.csv.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PROJECT_REPORT.md Sections 8.3 and 8.7; /Users/raihansobhan/Documents/10. Self Learning/Big Data Analytics/Project/FedHome_Spark/presentation/assets_20260808/figures/ward_dendrogram_phase3.png.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PROJECT_REPORT.md Sections 5 and 8.3; /Users/raihansobhan/Documents/10. Self Learning/Big Data Analytics/Project/FedHome_Spark/presentation/assets_20260808/figures/js_distance_heatmap_ordered_phase3.png.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PROJECT_REPORT.md Section 8.1; FINAL_RESULTS_20260808.md; /Users/raihansobhan/Documents/10. Self Learning/Big Data Analytics/Project/FedHome_Spark/presentation/assets_20260808/figures/auc_convergence_fullscale.png.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PROJECT_REPORT.md Section 8; /Users/raihansobhan/Documents/10. Self Learning/Big Data Analytics/Project/FedHome_Spark/presentation/assets_20260808/figures/client_auc_distribution.png; /Users/raihansobhan/Documents/10. Self Learning/Big Data Analytics/Project/FedHome_Spark/presentation/assets_20260808/figures/client_auc_heatmap.png.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PROJECT_REPORT.md Section 8.4; /Users/raihansobhan/Documents/10. Self Learning/Big Data Analytics/Project/FedHome_Spark/presentation/assets_20260808/tables/phase4_cluster_summary.csv; phase4_cluster_training_summary.json.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PROJECT_REPORT.md Sections 8.5 and 8.6; FINAL_RESULTS_20260808.md; /Users/raihansobhan/Documents/10. Self Learning/Big Data Analytics/Project/FedHome_Spark/presentation/assets_20260808/tables/baseline_final_summary.csv; /Users/raihansobhan/Documents/10. Self Learning/Big Data Analytics/Project/FedHome_Spark/presentation/assets_20260808/tables/phase5_ensemble_summary.csv.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PROJECT_REPORT.md Section 8.6; FINAL_RESULTS_20260808.md headline metrics.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PROJECT_REPORT.md Sections 3, 5, 6, and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PROJECT_REPORT.md Sections 8.2, 8.3, and 9.3.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PROJECT_REPORT.md Sections 9 and 10; README.md final artifact list.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PROJECT_REPORT.md Section 10.1; README.md slide and paper asset section.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PROJECT_REPORT.md Executive Summary and Sections 8.5-8.6; FINAL_RESULTS_20260808.md.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20849a276040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7317d472ea42b0" /><Relationship Type="http://schemas.openxmlformats.org/officeDocument/2006/relationships/slideLayout" Target="/ppt/slideLayouts/slideLayout1.xml" Id="R0ee46157795f40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e46157795f40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a4dbbf5b3545eb" /><Relationship Type="http://schemas.openxmlformats.org/officeDocument/2006/relationships/notesSlide" Target="/ppt/notesSlides/notesSlide1.xml" Id="Rb0bfd5e1063f4f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dae10fe5034571" /><Relationship Type="http://schemas.openxmlformats.org/officeDocument/2006/relationships/notesSlide" Target="/ppt/notesSlides/notesSlide2.xml" Id="R25d81c717f294d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4440d94e974c96" /><Relationship Type="http://schemas.openxmlformats.org/officeDocument/2006/relationships/notesSlide" Target="/ppt/notesSlides/notesSlide3.xml" Id="Rbe80e2b686204e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cc7b5bc6844a58" /><Relationship Type="http://schemas.openxmlformats.org/officeDocument/2006/relationships/notesSlide" Target="/ppt/notesSlides/notesSlide4.xml" Id="Re07ccdd326e046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172f0c991f41fe" /><Relationship Type="http://schemas.openxmlformats.org/officeDocument/2006/relationships/notesSlide" Target="/ppt/notesSlides/notesSlide5.xml" Id="R4d8b7329f101476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7e8e7eff224955" /><Relationship Type="http://schemas.openxmlformats.org/officeDocument/2006/relationships/notesSlide" Target="/ppt/notesSlides/notesSlide6.xml" Id="R1a3bf88285ed4a7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cddb3828c9467b" /><Relationship Type="http://schemas.openxmlformats.org/officeDocument/2006/relationships/notesSlide" Target="/ppt/notesSlides/notesSlide7.xml" Id="R063adce2d92c493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4a2258476f49bb" /><Relationship Type="http://schemas.openxmlformats.org/officeDocument/2006/relationships/notesSlide" Target="/ppt/notesSlides/notesSlide8.xml" Id="R65cc1b21765445a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2c9fdd17554924" /><Relationship Type="http://schemas.openxmlformats.org/officeDocument/2006/relationships/chart" Target="/ppt/slides/charts/chart1.xml" Id="R4978a23b1a7747af" /><Relationship Type="http://schemas.openxmlformats.org/officeDocument/2006/relationships/notesSlide" Target="/ppt/notesSlides/notesSlide9.xml" Id="Ra7df3a4b57a5439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6be59bcd76461b" /><Relationship Type="http://schemas.openxmlformats.org/officeDocument/2006/relationships/image" Target="/ppt/media/image.png" Id="R7be5b8353c404878" /><Relationship Type="http://schemas.openxmlformats.org/officeDocument/2006/relationships/notesSlide" Target="/ppt/notesSlides/notesSlide10.xml" Id="Rf5cb607a80c246e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59061a9fbf481e" /><Relationship Type="http://schemas.openxmlformats.org/officeDocument/2006/relationships/image" Target="/ppt/media/image2.png" Id="R58df5833b5b741fc" /><Relationship Type="http://schemas.openxmlformats.org/officeDocument/2006/relationships/notesSlide" Target="/ppt/notesSlides/notesSlide11.xml" Id="Rabffd06a93cc4e2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3d8cc823bf4190" /><Relationship Type="http://schemas.openxmlformats.org/officeDocument/2006/relationships/image" Target="/ppt/media/image3.png" Id="Ra128e583b0484f54" /><Relationship Type="http://schemas.openxmlformats.org/officeDocument/2006/relationships/notesSlide" Target="/ppt/notesSlides/notesSlide12.xml" Id="R17a3ba98dbf3454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3881ed9c344cf9" /><Relationship Type="http://schemas.openxmlformats.org/officeDocument/2006/relationships/image" Target="/ppt/media/image4.png" Id="Rfb4ea77cf5784f44" /><Relationship Type="http://schemas.openxmlformats.org/officeDocument/2006/relationships/notesSlide" Target="/ppt/notesSlides/notesSlide13.xml" Id="Rc5db972f7aa2445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fed3fa7a294951" /><Relationship Type="http://schemas.openxmlformats.org/officeDocument/2006/relationships/image" Target="/ppt/media/image5.png" Id="R81bcf256c52b4393" /><Relationship Type="http://schemas.openxmlformats.org/officeDocument/2006/relationships/image" Target="/ppt/media/image6.png" Id="Rfa907b0c64724e6f" /><Relationship Type="http://schemas.openxmlformats.org/officeDocument/2006/relationships/notesSlide" Target="/ppt/notesSlides/notesSlide14.xml" Id="R84f9ba7d94f649d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bf8f2a7ea0469c" /><Relationship Type="http://schemas.openxmlformats.org/officeDocument/2006/relationships/chart" Target="/ppt/slides/charts/chart2.xml" Id="Rfa8f0cbcbfc7485d" /><Relationship Type="http://schemas.openxmlformats.org/officeDocument/2006/relationships/notesSlide" Target="/ppt/notesSlides/notesSlide15.xml" Id="R9810bd78219d4e7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51dfdc75374936" /><Relationship Type="http://schemas.openxmlformats.org/officeDocument/2006/relationships/chart" Target="/ppt/slides/charts/chart3.xml" Id="R4e8411a0683f4bd8" /><Relationship Type="http://schemas.openxmlformats.org/officeDocument/2006/relationships/notesSlide" Target="/ppt/notesSlides/notesSlide16.xml" Id="R10f5937773e5425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d79bd635ae4a8b" /><Relationship Type="http://schemas.openxmlformats.org/officeDocument/2006/relationships/notesSlide" Target="/ppt/notesSlides/notesSlide17.xml" Id="R74210a66d95a4f4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4632f854664a0f" /><Relationship Type="http://schemas.openxmlformats.org/officeDocument/2006/relationships/notesSlide" Target="/ppt/notesSlides/notesSlide18.xml" Id="R00aefe7af22d418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0378dbefd24e0d" /><Relationship Type="http://schemas.openxmlformats.org/officeDocument/2006/relationships/notesSlide" Target="/ppt/notesSlides/notesSlide19.xml" Id="Rfef668f6c98c451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998f5982334f30" /><Relationship Type="http://schemas.openxmlformats.org/officeDocument/2006/relationships/notesSlide" Target="/ppt/notesSlides/notesSlide20.xml" Id="R99f98768996445d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e3ca326f6a4c2d" /><Relationship Type="http://schemas.openxmlformats.org/officeDocument/2006/relationships/notesSlide" Target="/ppt/notesSlides/notesSlide21.xml" Id="Rcbd699c2c89c4aa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ac85015e88447b" /><Relationship Type="http://schemas.openxmlformats.org/officeDocument/2006/relationships/notesSlide" Target="/ppt/notesSlides/notesSlide22.xml" Id="R4252d4da16e946f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Runtime, seconds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2"/>
              <c:pt idx="0">
                <c:v>Spark</c:v>
              </c:pt>
              <c:pt idx="1">
                <c:v>pandas</c:v>
              </c:pt>
            </c:strLit>
          </c:cat>
          <c:val>
            <c:numLit>
              <c:formatCode>General</c:formatCode>
              <c:ptCount val="2"/>
              <c:pt idx="0">
                <c:v>17.03</c:v>
              </c:pt>
              <c:pt idx="1">
                <c:v>1.12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5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Average AUC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2"/>
              <c:pt idx="0">
                <c:v>Cluster 1</c:v>
              </c:pt>
              <c:pt idx="1">
                <c:v>Cluster 2</c:v>
              </c:pt>
            </c:strLit>
          </c:cat>
          <c:val>
            <c:numLit>
              <c:formatCode>General</c:formatCode>
              <c:ptCount val="2"/>
              <c:pt idx="0">
                <c:v>0.987283</c:v>
              </c:pt>
              <c:pt idx="1">
                <c:v>0.967393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.94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0.02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Average AUC</c:v>
          </c:tx>
          <c:spPr>
            <a:solidFill xmlns:a="http://schemas.openxmlformats.org/drawingml/2006/main">
              <a:srgbClr val="3D8DFF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6DCBF4"/>
              </a:solidFill>
            </c:spPr>
          </c:dPt>
          <c:cat>
            <c:strLit>
              <c:ptCount val="2"/>
              <c:pt idx="0">
                <c:v>FedMSE baseline</c:v>
              </c:pt>
              <c:pt idx="1">
                <c:v>FedHome ensemble</c:v>
              </c:pt>
            </c:strLit>
          </c:cat>
          <c:val>
            <c:numLit>
              <c:formatCode>General</c:formatCode>
              <c:ptCount val="2"/>
              <c:pt idx="0">
                <c:v>0.970844</c:v>
              </c:pt>
              <c:pt idx="1">
                <c:v>0.993082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.94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0.02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4F08F59-D406-4CC4-8AE0-EFF430F0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FEDHOME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0D99E0E-E8DA-4583-BC49-D7D26DC0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885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Device-Type-Aware Federated Anomaly Detection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BB3BE4C-D027-40DB-A72D-16192036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86125"/>
            <a:ext cx="685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 cluster-aware extension of FedMSE for Non-IID smart-home IoT botnet detection</a:t>
            </a:r>
          </a:p>
        </p:txBody>
      </p:sp>
      <p:sp>
        <p:nvSpPr>
          <p:cNvPr id="4" name="panel">
            <a:extLst xmlns:a="http://schemas.openxmlformats.org/drawingml/2006/main">
              <a:ext uri="{FF2B5EF4-FFF2-40B4-BE49-F238E27FC236}">
                <a16:creationId xmlns:a16="http://schemas.microsoft.com/office/drawing/2014/main" id="{FE456AAD-C4DF-497E-9ABB-491D4449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600200"/>
            <a:ext cx="31432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51D58B9-2C59-4138-B132-71B21D37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025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0.970844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FAF533A-24DF-44B2-813F-1213E0B3C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717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FedMSE deterministic baseline AUC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5AE780E2-7BCD-4020-B358-1D37A4A21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90875"/>
            <a:ext cx="2381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80AC29D-0C72-4AD2-B8BF-766D5AC7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9090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0.993082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E891146-9299-45B2-B671-CB376383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62400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FedHome ensemble AUC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A7BC479-D307-4351-B38F-9EA23983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Md. Raihan Sobhan | Big Data Analytics | August 2026</a:t>
            </a:r>
          </a:p>
        </p:txBody>
      </p:sp>
      <p:sp>
        <p:nvSpPr>
          <p:cNvPr id="1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7AF35D1-B6E0-436B-8123-6E7050E6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FedHome | Big Data Analytics</a:t>
            </a:r>
          </a:p>
        </p:txBody>
      </p:sp>
      <p:sp>
        <p:nvSpPr>
          <p:cNvPr id="1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1FEC36A7-EFE6-4F4E-9D67-A962860A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5252056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ABF4F69E-0D1F-4F82-9319-6E7D3A61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FEDHOME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3DDE341-E14F-487C-BA88-D3C6DB96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security problem is distributed, private, and highly heterogeneous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4A308437-CB97-4CF1-8CE3-E9E907FB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3535E63-9980-43A0-B8D3-306350DF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FedHome | Big Data Analytics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ACB7E574-1253-4126-95BC-C2513E856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BE9FCAB-8752-446F-BBEC-072E3C66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581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Smart-home IoT gateways observe local traffic patterns that are sensitive and structurally different across homes.</a:t>
            </a:r>
          </a:p>
        </p:txBody>
      </p:sp>
      <p:sp>
        <p:nvSpPr>
          <p:cNvPr id="7" name="bullets">
            <a:extLst xmlns:a="http://schemas.openxmlformats.org/drawingml/2006/main">
              <a:ext uri="{FF2B5EF4-FFF2-40B4-BE49-F238E27FC236}">
                <a16:creationId xmlns:a16="http://schemas.microsoft.com/office/drawing/2014/main" id="{8CEC18EE-743B-4E35-AAE9-9DA1D180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38450"/>
            <a:ext cx="5715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Raw network traffic can expose routines, occupancy, and device behavior.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Mirai and Gafgyt attacks require anomaly detection under evolving threats.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Gateway data is Non-IID: device composition changes the normal traffic distribution.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The project evaluates a 50-gateway scenario with high heterogeneity.</a:t>
            </a:r>
          </a:p>
        </p:txBody>
      </p:sp>
      <p:sp>
        <p:nvSpPr>
          <p:cNvPr id="8" name="panel">
            <a:extLst xmlns:a="http://schemas.openxmlformats.org/drawingml/2006/main">
              <a:ext uri="{FF2B5EF4-FFF2-40B4-BE49-F238E27FC236}">
                <a16:creationId xmlns:a16="http://schemas.microsoft.com/office/drawing/2014/main" id="{35B38F8F-9FA4-47BB-8195-875A1E67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24050"/>
            <a:ext cx="1714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9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7C5EFE35-88D5-473C-83D4-D8CA2A87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09800"/>
            <a:ext cx="1295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50</a:t>
            </a:r>
          </a:p>
        </p:txBody>
      </p:sp>
      <p:sp>
        <p:nvSpPr>
          <p:cNvPr id="10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2E6E762B-041E-4878-859F-28FD3AFA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48000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gateways</a:t>
            </a:r>
          </a:p>
        </p:txBody>
      </p:sp>
      <p:sp>
        <p:nvSpPr>
          <p:cNvPr id="11" name="metric-note">
            <a:extLst xmlns:a="http://schemas.openxmlformats.org/drawingml/2006/main">
              <a:ext uri="{FF2B5EF4-FFF2-40B4-BE49-F238E27FC236}">
                <a16:creationId xmlns:a16="http://schemas.microsoft.com/office/drawing/2014/main" id="{D955942F-C4D8-4C98-9FFA-C195D38D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600450"/>
            <a:ext cx="1295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Non-IID evaluation scenario</a:t>
            </a:r>
          </a:p>
        </p:txBody>
      </p:sp>
      <p:sp>
        <p:nvSpPr>
          <p:cNvPr id="12" name="panel">
            <a:extLst xmlns:a="http://schemas.openxmlformats.org/drawingml/2006/main">
              <a:ext uri="{FF2B5EF4-FFF2-40B4-BE49-F238E27FC236}">
                <a16:creationId xmlns:a16="http://schemas.microsoft.com/office/drawing/2014/main" id="{3F0D0B2A-3FEE-46AB-9CAD-2C6AA7AC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24050"/>
            <a:ext cx="1714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98751BF8-3683-4E41-B733-A146FB25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209800"/>
            <a:ext cx="1295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115</a:t>
            </a:r>
          </a:p>
        </p:txBody>
      </p:sp>
      <p:sp>
        <p:nvSpPr>
          <p:cNvPr id="14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A7FC1ADD-82D7-41A1-816B-AE26B9FD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048000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features</a:t>
            </a:r>
          </a:p>
        </p:txBody>
      </p:sp>
      <p:sp>
        <p:nvSpPr>
          <p:cNvPr id="15" name="metric-note">
            <a:extLst xmlns:a="http://schemas.openxmlformats.org/drawingml/2006/main">
              <a:ext uri="{FF2B5EF4-FFF2-40B4-BE49-F238E27FC236}">
                <a16:creationId xmlns:a16="http://schemas.microsoft.com/office/drawing/2014/main" id="{92983EB8-4853-46C6-A0D7-DF3E5B48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600450"/>
            <a:ext cx="1295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N-BaIoT traffic representation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76878265-9DFB-48D3-8EAF-F20A170B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48125"/>
            <a:ext cx="1714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D5296EB6-5643-4D82-B114-38DE77486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333875"/>
            <a:ext cx="1295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0.83</a:t>
            </a:r>
          </a:p>
        </p:txBody>
      </p:sp>
      <p:sp>
        <p:nvSpPr>
          <p:cNvPr id="18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7A782695-0172-4E12-B5AD-865D6C93B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72075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JS divergence</a:t>
            </a:r>
          </a:p>
        </p:txBody>
      </p:sp>
      <p:sp>
        <p:nvSpPr>
          <p:cNvPr id="19" name="metric-note">
            <a:extLst xmlns:a="http://schemas.openxmlformats.org/drawingml/2006/main">
              <a:ext uri="{FF2B5EF4-FFF2-40B4-BE49-F238E27FC236}">
                <a16:creationId xmlns:a16="http://schemas.microsoft.com/office/drawing/2014/main" id="{89121272-070A-47E4-AE42-66E8231B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724525"/>
            <a:ext cx="1295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high distributional heterogeneity</a:t>
            </a:r>
          </a:p>
        </p:txBody>
      </p:sp>
      <p:sp>
        <p:nvSpPr>
          <p:cNvPr id="20" name="panel">
            <a:extLst xmlns:a="http://schemas.openxmlformats.org/drawingml/2006/main">
              <a:ext uri="{FF2B5EF4-FFF2-40B4-BE49-F238E27FC236}">
                <a16:creationId xmlns:a16="http://schemas.microsoft.com/office/drawing/2014/main" id="{96E2D39A-08FC-476D-AC21-2B31E26A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048125"/>
            <a:ext cx="1714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1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9677C072-D0E5-4850-B81E-0FC3C8A4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333875"/>
            <a:ext cx="1295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2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04D5E998-2AB0-4E8B-983F-61E367DE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5172075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botnets</a:t>
            </a:r>
          </a:p>
        </p:txBody>
      </p:sp>
      <p:sp>
        <p:nvSpPr>
          <p:cNvPr id="23" name="metric-note">
            <a:extLst xmlns:a="http://schemas.openxmlformats.org/drawingml/2006/main">
              <a:ext uri="{FF2B5EF4-FFF2-40B4-BE49-F238E27FC236}">
                <a16:creationId xmlns:a16="http://schemas.microsoft.com/office/drawing/2014/main" id="{AE34DFDA-F5C5-49BA-B87C-D733CF03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5724525"/>
            <a:ext cx="1295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Mirai and Gafgyt</a:t>
            </a:r>
          </a:p>
        </p:txBody>
      </p:sp>
    </p:spTree>
    <p:extLst>
      <p:ext uri="{BB962C8B-B14F-4D97-AF65-F5344CB8AC3E}">
        <p14:creationId xmlns:p14="http://schemas.microsoft.com/office/powerpoint/2010/main" val="209217452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D7123907-7EA8-4BAD-B886-393E62EA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FEDHOME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0722D45-F9C7-473C-A004-C497621DD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Existing federated approaches reduce privacy risk but struggle with client heterogeneity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3FFA6EFB-F5D9-49F8-ABB9-F613BBF7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1EE06BE-1FBB-4EDC-A994-02F98BB6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FedHome | Big Data Analytics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4467182D-DEBE-4590-B4CB-245E7438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6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F64D092-CB6C-4C64-A495-42863A6F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STATE OF THE ART CONTEXT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14350" y="2095500"/>
          <a:ext xmlns:a="http://schemas.openxmlformats.org/drawingml/2006/main" cx="10934700" cy="2952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095500"/>
                <a:gridCol w="3619500"/>
                <a:gridCol w="5219700"/>
              </a:tblGrid>
              <a:tr h="5905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Approach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Strength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Remaining gap for this project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Centralized IDS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Can pool traffic for global training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Violates privacy and bandwidth assumptions</a:t>
                      </a:r>
                    </a:p>
                  </a:txBody>
                  <a:tcPr marL="91440" marR="91440" marT="45720" marB="45720"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FedAvg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Keeps raw data local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Size-weighted aggregation is brittle under Non-IID clients</a:t>
                      </a:r>
                    </a:p>
                  </a:txBody>
                  <a:tcPr marL="91440" marR="91440" marT="45720" marB="45720"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FedMSE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SAE-CEN plus quality-aware MSEAvg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Still trains one global model across structurally different gateways</a:t>
                      </a:r>
                    </a:p>
                  </a:txBody>
                  <a:tcPr marL="91440" marR="91440" marT="45720" marB="45720"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Clustered FL family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Specializes models for client groups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Requires a useful privacy-safe grouping signal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5286AFB-1E63-4552-99D9-3F58F0C5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FedHome takes FedMSE as the strong baseline, then adds a clustering layer before federated training.</a:t>
            </a:r>
          </a:p>
        </p:txBody>
      </p:sp>
    </p:spTree>
    <p:extLst>
      <p:ext uri="{BB962C8B-B14F-4D97-AF65-F5344CB8AC3E}">
        <p14:creationId xmlns:p14="http://schemas.microsoft.com/office/powerpoint/2010/main" val="179527896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">
            <a:extLst xmlns:a="http://schemas.openxmlformats.org/drawingml/2006/main">
              <a:ext uri="{FF2B5EF4-FFF2-40B4-BE49-F238E27FC236}">
                <a16:creationId xmlns:a16="http://schemas.microsoft.com/office/drawing/2014/main" id="{D9894A1C-DE18-4FA8-86F7-69036A57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FEDHOME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610FC69-229D-4CB2-81B2-23A17023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FedMSE is the right baseline because it is already designed for one-class IoT anomaly detection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FF593791-38F2-45F6-9DA5-FE5BB70B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3D800FE-D958-4CE1-A8BB-ABFFADC97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FedHome | Big Data Analytics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1B25CCF4-C600-4E0C-B05C-C195D632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6" name="panel">
            <a:extLst xmlns:a="http://schemas.openxmlformats.org/drawingml/2006/main">
              <a:ext uri="{FF2B5EF4-FFF2-40B4-BE49-F238E27FC236}">
                <a16:creationId xmlns:a16="http://schemas.microsoft.com/office/drawing/2014/main" id="{E56708F7-80AA-474C-A3D3-B438CA20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33528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7ECEB2A-4E22-49BD-A347-F9446EADD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SAE-CEN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EDA9CED-51A4-4F57-861F-8FEB81C6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14625"/>
            <a:ext cx="27813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 shrink autoencoder learns compact latent representations of normal traffic. A centroid detector scores deviations as anomalies.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D5CE2C37-C29A-46A1-ABF1-1AC478A2E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09750"/>
            <a:ext cx="33528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552617E-170C-4FC0-A4A9-172AE7E5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955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MSEAvg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2A44C40-17EB-4704-89CA-A183F992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14625"/>
            <a:ext cx="27813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Aggregation weights are based on reconstruction quality over a shared development set, not simply on local dataset size.</a:t>
            </a:r>
          </a:p>
        </p:txBody>
      </p:sp>
      <p:sp>
        <p:nvSpPr>
          <p:cNvPr id="12" name="panel">
            <a:extLst xmlns:a="http://schemas.openxmlformats.org/drawingml/2006/main">
              <a:ext uri="{FF2B5EF4-FFF2-40B4-BE49-F238E27FC236}">
                <a16:creationId xmlns:a16="http://schemas.microsoft.com/office/drawing/2014/main" id="{7516AD2F-5F42-4149-AD17-AF877BEB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09750"/>
            <a:ext cx="28575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48D17FB-1645-4502-9A0D-37A41FD5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955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Baseline role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116F1ED-F075-4B81-9A43-474E91EB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14625"/>
            <a:ext cx="2190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FedHome must improve over this strong single-model reference while preserving the same privacy boundary.</a:t>
            </a:r>
          </a:p>
        </p:txBody>
      </p:sp>
    </p:spTree>
    <p:extLst>
      <p:ext uri="{BB962C8B-B14F-4D97-AF65-F5344CB8AC3E}">
        <p14:creationId xmlns:p14="http://schemas.microsoft.com/office/powerpoint/2010/main" val="66752393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">
            <a:extLst xmlns:a="http://schemas.openxmlformats.org/drawingml/2006/main">
              <a:ext uri="{FF2B5EF4-FFF2-40B4-BE49-F238E27FC236}">
                <a16:creationId xmlns:a16="http://schemas.microsoft.com/office/drawing/2014/main" id="{ADC5807C-CB4A-4C1E-B07C-7187D975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FEDHOME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49BFF07-E049-46F2-900A-60B3059A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FedHome proposes a simple change: cluster first, federate inside clusters, then merge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781D0371-E10B-4E0E-83AB-C7FFAECC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B1F4163-0C21-41D2-9052-0E18263A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FedHome | Big Data Analytics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186F620-8BD8-4DFA-9240-38E99DAE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6" name="panel">
            <a:extLst xmlns:a="http://schemas.openxmlformats.org/drawingml/2006/main">
              <a:ext uri="{FF2B5EF4-FFF2-40B4-BE49-F238E27FC236}">
                <a16:creationId xmlns:a16="http://schemas.microsoft.com/office/drawing/2014/main" id="{BF69A1C0-1288-4BE6-92BA-3912D548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652713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33D22A3-9A3B-4703-8D7F-2A2A8B4D6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62225"/>
            <a:ext cx="2309813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Profile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8FD24BF-8E5B-472F-846A-40B7F8A9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2309813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Build a normalized traffic-profile vector for each gateway.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00AEDB4-522F-4CEF-A256-AA35257E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4663" y="3290888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-&gt;</a:t>
            </a:r>
          </a:p>
        </p:txBody>
      </p:sp>
      <p:sp>
        <p:nvSpPr>
          <p:cNvPr id="10" name="panel">
            <a:extLst xmlns:a="http://schemas.openxmlformats.org/drawingml/2006/main">
              <a:ext uri="{FF2B5EF4-FFF2-40B4-BE49-F238E27FC236}">
                <a16:creationId xmlns:a16="http://schemas.microsoft.com/office/drawing/2014/main" id="{9135955B-0518-4950-B7A0-32CBC44D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8513" y="2333625"/>
            <a:ext cx="2652713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727BB3F-88D1-4E74-AEAD-B1FCB0DD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963" y="2562225"/>
            <a:ext cx="2309813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Cluster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6D3E1A3-D76F-42A6-8236-02E8C4DD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963" y="3171825"/>
            <a:ext cx="2309813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Compute JS distances and group gateways with Ward linkage.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656B000-9424-4B62-B59E-8C8F2B08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290888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-&gt;</a:t>
            </a:r>
          </a:p>
        </p:txBody>
      </p:sp>
      <p:sp>
        <p:nvSpPr>
          <p:cNvPr id="14" name="panel">
            <a:extLst xmlns:a="http://schemas.openxmlformats.org/drawingml/2006/main">
              <a:ext uri="{FF2B5EF4-FFF2-40B4-BE49-F238E27FC236}">
                <a16:creationId xmlns:a16="http://schemas.microsoft.com/office/drawing/2014/main" id="{747E0351-4652-4745-B271-5D8078E39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33625"/>
            <a:ext cx="2652713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FCF0692-CB3C-4211-B9A8-08D7FEB7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62225"/>
            <a:ext cx="2309813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Specialize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8AC374D-1461-438C-9F0C-464E66E9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71825"/>
            <a:ext cx="2309813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Train one FedMSE model inside each cluster.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83B208C-4885-49CB-91CF-8CD9239A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2988" y="3290888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-&gt;</a:t>
            </a:r>
          </a:p>
        </p:txBody>
      </p:sp>
      <p:sp>
        <p:nvSpPr>
          <p:cNvPr id="18" name="panel">
            <a:extLst xmlns:a="http://schemas.openxmlformats.org/drawingml/2006/main">
              <a:ext uri="{FF2B5EF4-FFF2-40B4-BE49-F238E27FC236}">
                <a16:creationId xmlns:a16="http://schemas.microsoft.com/office/drawing/2014/main" id="{17C5737A-102E-4BF5-86BB-013098866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6838" y="2333625"/>
            <a:ext cx="2652713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267092B-9D4F-456A-A453-81013CA4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8288" y="2562225"/>
            <a:ext cx="2309813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Merge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E10726FA-0A71-4092-9D1D-A28339A7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8288" y="3171825"/>
            <a:ext cx="2309813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Average cluster model parameters using cluster-size weights.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DFE60694-0F9E-45F4-B33E-B4AD14F55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19700"/>
            <a:ext cx="942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design keeps raw traffic local while letting the training process acknowledge that gateways are not exchangeable.</a:t>
            </a:r>
          </a:p>
        </p:txBody>
      </p:sp>
    </p:spTree>
    <p:extLst>
      <p:ext uri="{BB962C8B-B14F-4D97-AF65-F5344CB8AC3E}">
        <p14:creationId xmlns:p14="http://schemas.microsoft.com/office/powerpoint/2010/main" val="111575375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kicker">
            <a:extLst xmlns:a="http://schemas.openxmlformats.org/drawingml/2006/main">
              <a:ext uri="{FF2B5EF4-FFF2-40B4-BE49-F238E27FC236}">
                <a16:creationId xmlns:a16="http://schemas.microsoft.com/office/drawing/2014/main" id="{58513DA9-4821-4385-A9B1-CE0D0BD0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FEDHOME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D46D5AF-CFF2-41FF-AD86-0BC3C572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implementation is a reproducible pipeline, not a single experiment script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504F76BD-CEC1-4371-BB6F-B53272D7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EC222C7-7A49-4DD4-A555-1B5D4516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FedHome | Big Data Analytics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AFD7BAB3-5E0B-430C-8D0C-22132F10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14350" y="1952625"/>
          <a:ext xmlns:a="http://schemas.openxmlformats.org/drawingml/2006/main" cx="10934700" cy="3429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238500"/>
                <a:gridCol w="7696200"/>
              </a:tblGrid>
              <a:tr h="5715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Module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split_manifest.py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Persist and replay deterministic row-level data splits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spark_data.py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Process gateway CSVs and produce the 50 x 9 profile matrix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clustering.py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Compute JS distances, Ward clusters, and clustering figures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cluster_training.py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Train one FedMSE model per cluster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ensemble.py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Merge cluster models and evaluate the global ensemble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BCD36BF-63D7-4D3E-9EEF-21947AF9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578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All final comparisons use the same saved split manifest, so the baseline and FedHome phases share identical data boundaries.</a:t>
            </a:r>
          </a:p>
        </p:txBody>
      </p:sp>
    </p:spTree>
    <p:extLst>
      <p:ext uri="{BB962C8B-B14F-4D97-AF65-F5344CB8AC3E}">
        <p14:creationId xmlns:p14="http://schemas.microsoft.com/office/powerpoint/2010/main" val="119048480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C812773A-B999-4CCD-BED3-5C42D6A3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FEDHOME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36319DA-91FC-409A-9E63-AE1BD139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reproducibility correction made the final comparison scientifically defensible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78BD7FF8-1453-42D8-9268-BD80723C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CC95F05-4AF7-4545-B650-C845CA80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FedHome | Big Data Analytics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267DD21-327D-428D-B225-9B3C66C9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6" name="panel">
            <a:extLst xmlns:a="http://schemas.openxmlformats.org/drawingml/2006/main">
              <a:ext uri="{FF2B5EF4-FFF2-40B4-BE49-F238E27FC236}">
                <a16:creationId xmlns:a16="http://schemas.microsoft.com/office/drawing/2014/main" id="{5EB3CB69-36FA-4A3E-B6ED-CF81858D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57375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4D853A7-7FE7-4B1A-9544-2A5A2492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Original risk</a:t>
            </a:r>
          </a:p>
        </p:txBody>
      </p:sp>
      <p:sp>
        <p:nvSpPr>
          <p:cNvPr id="8" name="bullets">
            <a:extLst xmlns:a="http://schemas.openxmlformats.org/drawingml/2006/main">
              <a:ext uri="{FF2B5EF4-FFF2-40B4-BE49-F238E27FC236}">
                <a16:creationId xmlns:a16="http://schemas.microsoft.com/office/drawing/2014/main" id="{8E1A0363-1BA4-4804-8194-B84DA59F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4095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Historical baseline did not persist row-level split indices.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Pandas sampling introduced unrecoverable stochastic row order.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Phase 4 would not be apples-to-apples without a new baseline.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B529BAD0-13F3-4847-80CC-84207DBD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57375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560C436-3575-4FF0-A4F9-A21B4F47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1717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Final fix</a:t>
            </a:r>
          </a:p>
        </p:txBody>
      </p:sp>
      <p:sp>
        <p:nvSpPr>
          <p:cNvPr id="11" name="bullets">
            <a:extLst xmlns:a="http://schemas.openxmlformats.org/drawingml/2006/main">
              <a:ext uri="{FF2B5EF4-FFF2-40B4-BE49-F238E27FC236}">
                <a16:creationId xmlns:a16="http://schemas.microsoft.com/office/drawing/2014/main" id="{57A745B4-90CA-4556-BBB9-7084473D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57500"/>
            <a:ext cx="4095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Saved train, validation, development, and test indices.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Fixed Python, NumPy, and Torch seeds.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Reran FedMSE and all FedHome phases on the manifest.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93114B6-6DAF-4E98-903E-B244DE7D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Authoritative manifest: results/data/split_manifests/fedmse_fullscale_seed42.json</a:t>
            </a:r>
          </a:p>
        </p:txBody>
      </p:sp>
    </p:spTree>
    <p:extLst>
      <p:ext uri="{BB962C8B-B14F-4D97-AF65-F5344CB8AC3E}">
        <p14:creationId xmlns:p14="http://schemas.microsoft.com/office/powerpoint/2010/main" val="194189847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kicker">
            <a:extLst xmlns:a="http://schemas.openxmlformats.org/drawingml/2006/main">
              <a:ext uri="{FF2B5EF4-FFF2-40B4-BE49-F238E27FC236}">
                <a16:creationId xmlns:a16="http://schemas.microsoft.com/office/drawing/2014/main" id="{AC205756-3704-4B3A-A04C-114AACA3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FEDHOME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B394AF9-AFAA-48BD-ABC6-BFCE18DC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Experimental setup: 50 gateways, 115 traffic features, normal-only training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6FBDE8D-433B-425F-A741-E91E60E1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37AEC56-1223-4504-8672-AC36FEA5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FedHome | Big Data Analytics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38B5BAF4-C305-41A0-BE3A-AC352292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14350" y="1952625"/>
          <a:ext xmlns:a="http://schemas.openxmlformats.org/drawingml/2006/main" cx="10934700" cy="3905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667000"/>
                <a:gridCol w="8267700"/>
              </a:tblGrid>
              <a:tr h="48815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Dimension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Final setting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Dataset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N-BaIoT smart-home IoT traffic</a:t>
                      </a:r>
                    </a:p>
                  </a:txBody>
                  <a:tcPr marL="91440" marR="91440" marT="45720" marB="45720"/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Attacks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Mirai and Gafgyt botnet variants</a:t>
                      </a:r>
                    </a:p>
                  </a:txBody>
                  <a:tcPr marL="91440" marR="91440" marT="45720" marB="45720"/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Clients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50 non-IID gateways</a:t>
                      </a:r>
                    </a:p>
                  </a:txBody>
                  <a:tcPr marL="91440" marR="91440" marT="45720" marB="45720"/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Features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115 network traffic features</a:t>
                      </a:r>
                    </a:p>
                  </a:txBody>
                  <a:tcPr marL="91440" marR="91440" marT="45720" marB="45720"/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Training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20 global rounds, 100 local epochs</a:t>
                      </a:r>
                    </a:p>
                  </a:txBody>
                  <a:tcPr marL="91440" marR="91440" marT="45720" marB="45720"/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Model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Shrink Autoencoder plus centroid detector, MSEAvg aggregation</a:t>
                      </a:r>
                    </a:p>
                  </a:txBody>
                  <a:tcPr marL="91440" marR="91440" marT="45720" marB="45720"/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Execution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Local Spark mode on MacBook Pro M5, 24GB RAM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622318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">
            <a:extLst xmlns:a="http://schemas.openxmlformats.org/drawingml/2006/main">
              <a:ext uri="{FF2B5EF4-FFF2-40B4-BE49-F238E27FC236}">
                <a16:creationId xmlns:a16="http://schemas.microsoft.com/office/drawing/2014/main" id="{54B48678-1B33-4238-A055-66B84D58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FEDHOME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0DE21F6-25C8-4BDF-8553-0F62CB2A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Phase 2 transformed raw gateway files into a clustering-ready profile matrix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365D0447-85BE-4C9F-9BBD-3C4CDCE9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5E11F9D-C82B-4EA3-8969-DDF6A681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FedHome | Big Data Analytics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4BE493F3-44A5-41AE-93DB-2DEE7399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66750" y="2114550"/>
          <a:ext xmlns:a="http://schemas.openxmlformats.org/drawingml/2006/main" cx="48577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978a23b1a7747af"/>
          </a:graphicData>
        </a:graphic>
      </p:graphicFrame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E7311517-5DC7-44D7-9EBF-1CCCD8B5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4196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6D4AC8F-864D-41D2-B7B1-680A81DC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860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What Phase 2 produced</a:t>
            </a:r>
          </a:p>
        </p:txBody>
      </p:sp>
      <p:sp>
        <p:nvSpPr>
          <p:cNvPr id="9" name="bullets">
            <a:extLst xmlns:a="http://schemas.openxmlformats.org/drawingml/2006/main">
              <a:ext uri="{FF2B5EF4-FFF2-40B4-BE49-F238E27FC236}">
                <a16:creationId xmlns:a16="http://schemas.microsoft.com/office/drawing/2014/main" id="{59236E2A-3DA3-4E86-8E16-12A0CC4D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05125"/>
            <a:ext cx="37147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- 136,565 rows processed across 50 gateways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normalized 50 x 9 profile matrix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all profile rows sum to 1.0 +/- 1e-6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Spark was slower locally, but the pipeline is structured for scale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FA5B4E5-C762-4DDB-8F1C-A3FD5012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388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Important caveat: profiles are traffic-archetype proxies because row-level device labels were absent from the scenario CSVs.</a:t>
            </a:r>
          </a:p>
        </p:txBody>
      </p:sp>
    </p:spTree>
    <p:extLst>
      <p:ext uri="{BB962C8B-B14F-4D97-AF65-F5344CB8AC3E}">
        <p14:creationId xmlns:p14="http://schemas.microsoft.com/office/powerpoint/2010/main" val="207996177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">
            <a:extLst xmlns:a="http://schemas.openxmlformats.org/drawingml/2006/main">
              <a:ext uri="{FF2B5EF4-FFF2-40B4-BE49-F238E27FC236}">
                <a16:creationId xmlns:a16="http://schemas.microsoft.com/office/drawing/2014/main" id="{51A3F219-CCB7-43BE-B82F-A419E6B9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FEDHOME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5E4A1F6-345F-4AB9-AF56-09EEB45D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Phase 3 found two gateway groups with useful but imperfect separation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71F046E6-9BAD-4AC1-9D58-19B45D19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810D52F-201A-4DE9-B06F-07207716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FedHome | Big Data Analytics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F5345C0F-C132-453B-8045-B8651FD3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6" name="panel">
            <a:extLst xmlns:a="http://schemas.openxmlformats.org/drawingml/2006/main">
              <a:ext uri="{FF2B5EF4-FFF2-40B4-BE49-F238E27FC236}">
                <a16:creationId xmlns:a16="http://schemas.microsoft.com/office/drawing/2014/main" id="{880EB0A3-CD8D-43B6-A72F-21CE5A65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238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7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CE07E1F4-EBB6-4AEC-B888-22A072A4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1962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8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54B85CDF-A195-4562-A449-7C626476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196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selected clusters</a:t>
            </a:r>
          </a:p>
        </p:txBody>
      </p:sp>
      <p:sp>
        <p:nvSpPr>
          <p:cNvPr id="9" name="metric-note">
            <a:extLst xmlns:a="http://schemas.openxmlformats.org/drawingml/2006/main">
              <a:ext uri="{FF2B5EF4-FFF2-40B4-BE49-F238E27FC236}">
                <a16:creationId xmlns:a16="http://schemas.microsoft.com/office/drawing/2014/main" id="{908C31CF-8226-46A9-AC55-7AC42A28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29025"/>
            <a:ext cx="1962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Ward hierarchical clustering</a:t>
            </a:r>
          </a:p>
        </p:txBody>
      </p:sp>
      <p:sp>
        <p:nvSpPr>
          <p:cNvPr id="10" name="panel">
            <a:extLst xmlns:a="http://schemas.openxmlformats.org/drawingml/2006/main">
              <a:ext uri="{FF2B5EF4-FFF2-40B4-BE49-F238E27FC236}">
                <a16:creationId xmlns:a16="http://schemas.microsoft.com/office/drawing/2014/main" id="{77A1D243-5C69-4E77-8029-2C245A3A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952625"/>
            <a:ext cx="238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1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52B886A5-E1A8-4C9A-8BE9-7C08A07E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38375"/>
            <a:ext cx="1962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19 / 31</a:t>
            </a:r>
          </a:p>
        </p:txBody>
      </p:sp>
      <p:sp>
        <p:nvSpPr>
          <p:cNvPr id="12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2AA0FD57-8A08-4DE6-BF90-FF0A0FBA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76575"/>
            <a:ext cx="196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cluster sizes</a:t>
            </a:r>
          </a:p>
        </p:txBody>
      </p:sp>
      <p:sp>
        <p:nvSpPr>
          <p:cNvPr id="13" name="metric-note">
            <a:extLst xmlns:a="http://schemas.openxmlformats.org/drawingml/2006/main">
              <a:ext uri="{FF2B5EF4-FFF2-40B4-BE49-F238E27FC236}">
                <a16:creationId xmlns:a16="http://schemas.microsoft.com/office/drawing/2014/main" id="{A14B79B8-22DA-438E-B360-0D2ECF61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629025"/>
            <a:ext cx="1962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client distribution across groups</a:t>
            </a:r>
          </a:p>
        </p:txBody>
      </p:sp>
      <p:sp>
        <p:nvSpPr>
          <p:cNvPr id="14" name="panel">
            <a:extLst xmlns:a="http://schemas.openxmlformats.org/drawingml/2006/main">
              <a:ext uri="{FF2B5EF4-FFF2-40B4-BE49-F238E27FC236}">
                <a16:creationId xmlns:a16="http://schemas.microsoft.com/office/drawing/2014/main" id="{BA8CABF1-C34F-40DB-8E99-4FA1F2490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952625"/>
            <a:ext cx="238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5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6E860370-28F7-4150-B065-D95311DC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38375"/>
            <a:ext cx="1962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0.3967</a:t>
            </a:r>
          </a:p>
        </p:txBody>
      </p:sp>
      <p:sp>
        <p:nvSpPr>
          <p:cNvPr id="16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FFEE875E-AD1A-4775-8152-DCE2EBCB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76575"/>
            <a:ext cx="196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silhouette</a:t>
            </a:r>
          </a:p>
        </p:txBody>
      </p:sp>
      <p:sp>
        <p:nvSpPr>
          <p:cNvPr id="17" name="metric-note">
            <a:extLst xmlns:a="http://schemas.openxmlformats.org/drawingml/2006/main">
              <a:ext uri="{FF2B5EF4-FFF2-40B4-BE49-F238E27FC236}">
                <a16:creationId xmlns:a16="http://schemas.microsoft.com/office/drawing/2014/main" id="{71879CB3-E600-4973-B64E-12745A003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29025"/>
            <a:ext cx="1962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useful, not perfect separation</a:t>
            </a:r>
          </a:p>
        </p:txBody>
      </p:sp>
      <p:sp>
        <p:nvSpPr>
          <p:cNvPr id="18" name="panel">
            <a:extLst xmlns:a="http://schemas.openxmlformats.org/drawingml/2006/main">
              <a:ext uri="{FF2B5EF4-FFF2-40B4-BE49-F238E27FC236}">
                <a16:creationId xmlns:a16="http://schemas.microsoft.com/office/drawing/2014/main" id="{85EC336F-3426-447F-9E53-BBC31A72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38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9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CF6F931C-0396-47E8-B44C-D450CEDD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38375"/>
            <a:ext cx="1962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0.6998</a:t>
            </a:r>
          </a:p>
        </p:txBody>
      </p:sp>
      <p:sp>
        <p:nvSpPr>
          <p:cNvPr id="20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42DB2383-916E-4D33-8B6E-0ABC45CF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76575"/>
            <a:ext cx="196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ARI</a:t>
            </a:r>
          </a:p>
        </p:txBody>
      </p:sp>
      <p:sp>
        <p:nvSpPr>
          <p:cNvPr id="21" name="metric-note">
            <a:extLst xmlns:a="http://schemas.openxmlformats.org/drawingml/2006/main">
              <a:ext uri="{FF2B5EF4-FFF2-40B4-BE49-F238E27FC236}">
                <a16:creationId xmlns:a16="http://schemas.microsoft.com/office/drawing/2014/main" id="{42FE2666-9349-4C65-AD9C-589571E5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629025"/>
            <a:ext cx="1962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Ward vs Spark BKM agreement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e5b8353c404878"/>
          <a:stretch xmlns:a="http://schemas.openxmlformats.org/drawingml/2006/main"/>
        </p:blipFill>
        <p:spPr>
          <a:xfrm xmlns:a="http://schemas.openxmlformats.org/drawingml/2006/main">
            <a:off x="4693541" y="4095750"/>
            <a:ext cx="2423919" cy="1809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22786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CD2408C7-A905-410B-B988-B48939DB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FEDHOME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1AE563C-F9E9-47C6-AEE3-0A09688B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dendrogram shows why the pipeline settled on a two-cluster structure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6CA64C49-4962-4E43-AC64-01CA1019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159897C-19CA-4AFA-B231-3E69C331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FedHome | Big Data Analytics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A842CAB3-7625-44B9-8654-7C80809B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df5833b5b741fc"/>
          <a:stretch xmlns:a="http://schemas.openxmlformats.org/drawingml/2006/main"/>
        </p:blipFill>
        <p:spPr>
          <a:xfrm xmlns:a="http://schemas.openxmlformats.org/drawingml/2006/main">
            <a:off x="514350" y="2247548"/>
            <a:ext cx="7048500" cy="2991554"/>
          </a:xfrm>
          <a:prstGeom xmlns:a="http://schemas.openxmlformats.org/drawingml/2006/main" prst="rect">
            <a:avLst/>
          </a:prstGeom>
        </p:spPr>
      </p:pic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FF750673-1EC6-4AAD-9FD0-498CF8F55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00250"/>
            <a:ext cx="2952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FE4E86E-F204-4188-9641-7174C633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050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Interpretation</a:t>
            </a:r>
          </a:p>
        </p:txBody>
      </p:sp>
      <p:sp>
        <p:nvSpPr>
          <p:cNvPr id="9" name="bullets">
            <a:extLst xmlns:a="http://schemas.openxmlformats.org/drawingml/2006/main">
              <a:ext uri="{FF2B5EF4-FFF2-40B4-BE49-F238E27FC236}">
                <a16:creationId xmlns:a16="http://schemas.microsoft.com/office/drawing/2014/main" id="{00521D1E-ECDC-4B84-9864-D5F6E0A6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76550"/>
            <a:ext cx="2286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The partition is operationally useful.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Cluster quality is limited by proxy profile construction.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Cluster assignments feed directly into Phase 4 training.</a:t>
            </a:r>
          </a:p>
        </p:txBody>
      </p:sp>
    </p:spTree>
    <p:extLst>
      <p:ext uri="{BB962C8B-B14F-4D97-AF65-F5344CB8AC3E}">
        <p14:creationId xmlns:p14="http://schemas.microsoft.com/office/powerpoint/2010/main" val="196639091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kicker">
            <a:extLst xmlns:a="http://schemas.openxmlformats.org/drawingml/2006/main">
              <a:ext uri="{FF2B5EF4-FFF2-40B4-BE49-F238E27FC236}">
                <a16:creationId xmlns:a16="http://schemas.microsoft.com/office/drawing/2014/main" id="{C13FC4A5-71D0-48D0-9DB0-F5BF1C465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FEDHOME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102BE8D-BA7B-4902-B294-5D7E7A68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JS-distance heatmap makes heterogeneity visible before model training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3F377D5D-43A4-4E85-B737-3F94842B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8EA4FEC-8706-4899-A8BA-701DF75D3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FedHome | Big Data Analytics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EFC81C80-CE9E-4D59-8CB4-390676E2A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28e583b0484f54"/>
          <a:stretch xmlns:a="http://schemas.openxmlformats.org/drawingml/2006/main"/>
        </p:blipFill>
        <p:spPr>
          <a:xfrm xmlns:a="http://schemas.openxmlformats.org/drawingml/2006/main">
            <a:off x="1778884" y="1666875"/>
            <a:ext cx="5090932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217F2C7-3919-4874-BA6D-AC847E854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2571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This slide is the bridge from data engineering to federated learning: if gateways differ, training them as one homogeneous population is a modeling choice, not a neutral default.</a:t>
            </a:r>
          </a:p>
        </p:txBody>
      </p:sp>
    </p:spTree>
    <p:extLst>
      <p:ext uri="{BB962C8B-B14F-4D97-AF65-F5344CB8AC3E}">
        <p14:creationId xmlns:p14="http://schemas.microsoft.com/office/powerpoint/2010/main" val="113939352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CC9AF851-46BF-479E-A160-1ECD6936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FEDHOME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5F5E0B1-D0E7-479B-801D-DD858649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deterministic FedMSE baseline remained strong after the reproducibility fix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641F385F-CFBE-49DE-8816-4CA38F06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B2BEC9B-12FC-451E-89AD-DF466429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FedHome | Big Data Analytics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EAF9485C-04E3-4D91-830D-08C90F90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4ea77cf5784f44"/>
          <a:stretch xmlns:a="http://schemas.openxmlformats.org/drawingml/2006/main"/>
        </p:blipFill>
        <p:spPr>
          <a:xfrm xmlns:a="http://schemas.openxmlformats.org/drawingml/2006/main">
            <a:off x="514350" y="2308094"/>
            <a:ext cx="7000875" cy="2670437"/>
          </a:xfrm>
          <a:prstGeom xmlns:a="http://schemas.openxmlformats.org/drawingml/2006/main" prst="rect">
            <a:avLst/>
          </a:prstGeom>
        </p:spPr>
      </p:pic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FCDA43F6-1B4A-42DE-A0EC-E8AC0E0D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790700"/>
            <a:ext cx="2571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8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17AD58ED-11B9-4114-B95F-28234F4CF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076450"/>
            <a:ext cx="2152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0.970844</a:t>
            </a:r>
          </a:p>
        </p:txBody>
      </p:sp>
      <p:sp>
        <p:nvSpPr>
          <p:cNvPr id="9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9FD22FFE-22F6-44AF-ADE9-A700866D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91465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average AUC</a:t>
            </a:r>
          </a:p>
        </p:txBody>
      </p:sp>
      <p:sp>
        <p:nvSpPr>
          <p:cNvPr id="10" name="metric-note">
            <a:extLst xmlns:a="http://schemas.openxmlformats.org/drawingml/2006/main">
              <a:ext uri="{FF2B5EF4-FFF2-40B4-BE49-F238E27FC236}">
                <a16:creationId xmlns:a16="http://schemas.microsoft.com/office/drawing/2014/main" id="{D0DEEAE9-C44D-4CF8-AD04-B0AC48B8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467100"/>
            <a:ext cx="2152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deterministic baseline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D542A866-51AB-4C19-B86A-A9C3CBD8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390900"/>
            <a:ext cx="2571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2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5BF7A597-E86F-45A5-B4BF-6355C4C2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676650"/>
            <a:ext cx="2152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0.8030</a:t>
            </a:r>
          </a:p>
        </p:txBody>
      </p:sp>
      <p:sp>
        <p:nvSpPr>
          <p:cNvPr id="13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31918B05-48B6-4E9A-BCB2-CCF0E6DC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51485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final loss</a:t>
            </a:r>
          </a:p>
        </p:txBody>
      </p:sp>
      <p:sp>
        <p:nvSpPr>
          <p:cNvPr id="14" name="metric-note">
            <a:extLst xmlns:a="http://schemas.openxmlformats.org/drawingml/2006/main">
              <a:ext uri="{FF2B5EF4-FFF2-40B4-BE49-F238E27FC236}">
                <a16:creationId xmlns:a16="http://schemas.microsoft.com/office/drawing/2014/main" id="{EB58B709-83D4-4360-A2AF-41B60A41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5067300"/>
            <a:ext cx="2152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40.3% loss reduction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BCA3802-9879-4708-B20C-E40152EDB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3340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This is the comparison anchor for every final FedHome result.</a:t>
            </a:r>
          </a:p>
        </p:txBody>
      </p:sp>
    </p:spTree>
    <p:extLst>
      <p:ext uri="{BB962C8B-B14F-4D97-AF65-F5344CB8AC3E}">
        <p14:creationId xmlns:p14="http://schemas.microsoft.com/office/powerpoint/2010/main" val="148459823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416DF5C9-D157-4BC8-838D-9ECCBBC3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FEDHOME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C94BEBE-9AD7-488A-B3FE-49E1D8F1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Client-level baseline performance was high overall but not uniform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0C14D81B-AC80-48C5-8D17-252AF8C9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3E495D5-BE91-4EB0-833A-D5D1B2BA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FedHome | Big Data Analytics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5FE94A21-7688-4451-A781-E9249393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bcf256c52b4393"/>
          <a:stretch xmlns:a="http://schemas.openxmlformats.org/drawingml/2006/main"/>
        </p:blipFill>
        <p:spPr>
          <a:xfrm xmlns:a="http://schemas.openxmlformats.org/drawingml/2006/main">
            <a:off x="514350" y="2351515"/>
            <a:ext cx="5143500" cy="2250221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907b0c64724e6f"/>
          <a:stretch xmlns:a="http://schemas.openxmlformats.org/drawingml/2006/main"/>
        </p:blipFill>
        <p:spPr>
          <a:xfrm xmlns:a="http://schemas.openxmlformats.org/drawingml/2006/main">
            <a:off x="6143625" y="1787818"/>
            <a:ext cx="5143500" cy="3377615"/>
          </a:xfrm>
          <a:prstGeom xmlns:a="http://schemas.openxmlformats.org/drawingml/2006/main" prst="rect">
            <a:avLst/>
          </a:prstGeom>
        </p:spPr>
      </p:pic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BDC50B7-489B-47B9-943F-E2C4876D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spread across gateways motivates specialization: strong average performance can still hide client-specific difficulty.</a:t>
            </a:r>
          </a:p>
        </p:txBody>
      </p:sp>
    </p:spTree>
    <p:extLst>
      <p:ext uri="{BB962C8B-B14F-4D97-AF65-F5344CB8AC3E}">
        <p14:creationId xmlns:p14="http://schemas.microsoft.com/office/powerpoint/2010/main" val="87460617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kicker">
            <a:extLst xmlns:a="http://schemas.openxmlformats.org/drawingml/2006/main">
              <a:ext uri="{FF2B5EF4-FFF2-40B4-BE49-F238E27FC236}">
                <a16:creationId xmlns:a16="http://schemas.microsoft.com/office/drawing/2014/main" id="{81D63B3E-DD04-408B-B645-4E79E397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FEDHOME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57B6D83-14C7-4E70-9BC1-9F924464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Cluster-aware training produced two specialized models with different behavior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F929EF77-606E-4ED9-8758-60BDD464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1F5D6D1-BFEF-471D-817A-7851212A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FedHome | Big Data Analytics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506D80EF-5061-4EFA-99BC-AA643C00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14350" y="2047875"/>
          <a:ext xmlns:a="http://schemas.openxmlformats.org/drawingml/2006/main" cx="10934700" cy="1809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428750"/>
                <a:gridCol w="1524000"/>
                <a:gridCol w="2000250"/>
                <a:gridCol w="2000250"/>
                <a:gridCol w="2000250"/>
                <a:gridCol w="1981200"/>
              </a:tblGrid>
              <a:tr h="6032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Cluster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Clients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Average AUC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Final loss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Minimum AUC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Maximum AUC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19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0.987283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0.815616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0.952492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0.999997</a:t>
                      </a:r>
                    </a:p>
                  </a:txBody>
                  <a:tcPr marL="91440" marR="91440" marT="45720" marB="45720"/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31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0.967393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0.862165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0.621677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1.000000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1714500" y="4286250"/>
          <a:ext xmlns:a="http://schemas.openxmlformats.org/drawingml/2006/main" cx="7524750" cy="1524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a8f0cbcbfc7485d"/>
          </a:graphicData>
        </a:graphic>
      </p:graphicFrame>
    </p:spTree>
    <p:extLst>
      <p:ext uri="{BB962C8B-B14F-4D97-AF65-F5344CB8AC3E}">
        <p14:creationId xmlns:p14="http://schemas.microsoft.com/office/powerpoint/2010/main" val="114363195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">
            <a:extLst xmlns:a="http://schemas.openxmlformats.org/drawingml/2006/main">
              <a:ext uri="{FF2B5EF4-FFF2-40B4-BE49-F238E27FC236}">
                <a16:creationId xmlns:a16="http://schemas.microsoft.com/office/drawing/2014/main" id="{827192AE-7493-4782-909F-7CDC62E2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FEDHOME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88AB0AA-C04D-4ADA-8DD7-9BEAECB46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final ensemble improved the main metric by 2.22 AUC points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BB0A048F-CF7D-49A4-AAA4-EB200B94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898D7DA-DDE5-4C25-BD95-D026FC34B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FedHome | Big Data Analytics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E9D9642F-0429-4042-9E0D-E9C3C41A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762000" y="1809750"/>
          <a:ext xmlns:a="http://schemas.openxmlformats.org/drawingml/2006/main" cx="619125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e8411a0683f4bd8"/>
          </a:graphicData>
        </a:graphic>
      </p:graphicFrame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77082862-719B-42EC-A15A-9EC235BF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29527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F62CAC4-4107-48DA-8010-2D8817E0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81250"/>
            <a:ext cx="2419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+0.022238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1A15EB7-6EC1-43F0-875E-2AE8CDC0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86100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absolute AUC gain</a:t>
            </a:r>
          </a:p>
        </p:txBody>
      </p:sp>
      <p:sp>
        <p:nvSpPr>
          <p:cNvPr id="10" name="panel">
            <a:extLst xmlns:a="http://schemas.openxmlformats.org/drawingml/2006/main">
              <a:ext uri="{FF2B5EF4-FFF2-40B4-BE49-F238E27FC236}">
                <a16:creationId xmlns:a16="http://schemas.microsoft.com/office/drawing/2014/main" id="{3AE67710-F799-440A-A4DB-6AB4E706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00500"/>
            <a:ext cx="29527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9C81EF1-08B0-4E01-94E6-A1362FAF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62450"/>
            <a:ext cx="2419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19/50 + 31/50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82CECBE-E238-4ACD-B921-E272DCC6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000625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merge weights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E9DE2B0-855B-447F-A763-6EF8DBAF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6388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cluster-size-weighted parameter averaging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6C384E7-0829-465C-90EE-0BAF79E1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This is the central empirical result of the project.</a:t>
            </a:r>
          </a:p>
        </p:txBody>
      </p:sp>
    </p:spTree>
    <p:extLst>
      <p:ext uri="{BB962C8B-B14F-4D97-AF65-F5344CB8AC3E}">
        <p14:creationId xmlns:p14="http://schemas.microsoft.com/office/powerpoint/2010/main" val="47106368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kicker">
            <a:extLst xmlns:a="http://schemas.openxmlformats.org/drawingml/2006/main">
              <a:ext uri="{FF2B5EF4-FFF2-40B4-BE49-F238E27FC236}">
                <a16:creationId xmlns:a16="http://schemas.microsoft.com/office/drawing/2014/main" id="{88B230B3-3549-44B7-AC2B-C8D47389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FEDHOME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61FBDF1-F4AB-48FF-8EF8-073C886A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full result sequence supports the heterogeneity-aware design choice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2399CE81-283C-47BA-AEDE-C184027B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F1BDD46-9ACE-4FE9-8F15-058F3A02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FedHome | Big Data Analytics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5E08AF4B-B8C2-4BF7-A506-A0D05799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14350" y="1905000"/>
          <a:ext xmlns:a="http://schemas.openxmlformats.org/drawingml/2006/main" cx="10934700" cy="2952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143250"/>
                <a:gridCol w="1809750"/>
                <a:gridCol w="1619250"/>
                <a:gridCol w="4362450"/>
              </a:tblGrid>
              <a:tr h="5905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Experiment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Average AUC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Final loss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Interpretation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FedMSE baseline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0.970844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0.8030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strong single global model</a:t>
                      </a:r>
                    </a:p>
                  </a:txBody>
                  <a:tcPr marL="91440" marR="91440" marT="45720" marB="45720"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Cluster 1 model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0.987283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0.815616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specialized model for 19 clients</a:t>
                      </a:r>
                    </a:p>
                  </a:txBody>
                  <a:tcPr marL="91440" marR="91440" marT="45720" marB="45720"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Cluster 2 model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0.967393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0.862165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harder group with broader difficulty</a:t>
                      </a:r>
                    </a:p>
                  </a:txBody>
                  <a:tcPr marL="91440" marR="91440" marT="45720" marB="45720"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FedHome ensemble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0.993082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N/A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best global AUC after cluster merge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9062363-BFC0-4827-A4B0-67BBA784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ensemble did not merely reproduce the baseline; it produced the highest global average AUC in the final comparison set.</a:t>
            </a:r>
          </a:p>
        </p:txBody>
      </p:sp>
    </p:spTree>
    <p:extLst>
      <p:ext uri="{BB962C8B-B14F-4D97-AF65-F5344CB8AC3E}">
        <p14:creationId xmlns:p14="http://schemas.microsoft.com/office/powerpoint/2010/main" val="39358627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">
            <a:extLst xmlns:a="http://schemas.openxmlformats.org/drawingml/2006/main">
              <a:ext uri="{FF2B5EF4-FFF2-40B4-BE49-F238E27FC236}">
                <a16:creationId xmlns:a16="http://schemas.microsoft.com/office/drawing/2014/main" id="{3EF46D33-0A8F-4318-80BC-D5BF28B27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FEDHOME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C694813-2757-4A26-A4D4-E63A192A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What the result means: specialization helped without breaking the privacy boundary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F1CB007-6894-4AD2-855F-B1C94482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4D519C3-8D9E-4EE1-BF50-191112A8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FedHome | Big Data Analytics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0C11FA7B-9D09-4C4A-B7BD-9F863D2F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6" name="panel">
            <a:extLst xmlns:a="http://schemas.openxmlformats.org/drawingml/2006/main">
              <a:ext uri="{FF2B5EF4-FFF2-40B4-BE49-F238E27FC236}">
                <a16:creationId xmlns:a16="http://schemas.microsoft.com/office/drawing/2014/main" id="{91B77550-6396-4E56-B130-B2429762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62150"/>
            <a:ext cx="3238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37AA7D1-F601-4FED-8098-0D92E6E4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Scientific meaning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AF7DD7C-1AD1-4320-A95A-38A2171A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272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Gateway heterogeneity is not just noise; using it as a grouping signal improved the final detector.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89A1D81B-0F26-492E-9FD3-04CCD4A2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62150"/>
            <a:ext cx="3238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1BC6DAD-BD2B-4B23-A1A0-2D62C545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669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Engineering meaning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D6EE131-1F36-4C5B-A731-F78BF8FC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57500"/>
            <a:ext cx="272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The split manifest, modular scripts, and saved artifacts make the pipeline rerunnable and auditable.</a:t>
            </a:r>
          </a:p>
        </p:txBody>
      </p:sp>
      <p:sp>
        <p:nvSpPr>
          <p:cNvPr id="12" name="panel">
            <a:extLst xmlns:a="http://schemas.openxmlformats.org/drawingml/2006/main">
              <a:ext uri="{FF2B5EF4-FFF2-40B4-BE49-F238E27FC236}">
                <a16:creationId xmlns:a16="http://schemas.microsoft.com/office/drawing/2014/main" id="{07BAA75F-6CBE-4BCB-BFC4-B37C3E73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62150"/>
            <a:ext cx="2762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1E795BE-B092-47CC-A19A-9E7BB1F5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66950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Practical meaning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B3E0B74-6B9C-4211-823C-D2CEE289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57500"/>
            <a:ext cx="21526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Privacy is preserved because raw traffic remains local; only derived profiles and model parameters are used centrally.</a:t>
            </a:r>
          </a:p>
        </p:txBody>
      </p:sp>
    </p:spTree>
    <p:extLst>
      <p:ext uri="{BB962C8B-B14F-4D97-AF65-F5344CB8AC3E}">
        <p14:creationId xmlns:p14="http://schemas.microsoft.com/office/powerpoint/2010/main" val="1249572225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kicker">
            <a:extLst xmlns:a="http://schemas.openxmlformats.org/drawingml/2006/main">
              <a:ext uri="{FF2B5EF4-FFF2-40B4-BE49-F238E27FC236}">
                <a16:creationId xmlns:a16="http://schemas.microsoft.com/office/drawing/2014/main" id="{B344ADAA-973D-4926-B67C-E8401507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FEDHOME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D9396FC-B249-423F-8B56-92A85FAE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Limitations are important, and they guide the next research step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A2DF7ADA-5E88-4753-99E2-6143E178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08CC584-BF61-4B6B-A2B9-DD957440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FedHome | Big Data Analytics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F8AB2E0E-4300-4E0E-A0FB-EDD3A9C12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sp>
        <p:nvSpPr>
          <p:cNvPr id="6" name="bullets">
            <a:extLst xmlns:a="http://schemas.openxmlformats.org/drawingml/2006/main">
              <a:ext uri="{FF2B5EF4-FFF2-40B4-BE49-F238E27FC236}">
                <a16:creationId xmlns:a16="http://schemas.microsoft.com/office/drawing/2014/main" id="{CB63637C-A89E-4656-BF6B-B49DD903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9906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The 50 x 9 profiles are traffic-archetype proxies, not ground-truth row-level device labels.</a:t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The clustering silhouette score is 0.3967, so separation is useful but imperfect.</a:t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The Spark pipeline was slower than pandas locally; scale benefits require larger or distributed settings.</a:t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Additional baselines such as FedProx or IFCA would strengthen the comparative study.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A5CF8F2-F4BB-4457-88F3-129C6B5A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86375"/>
            <a:ext cx="914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These limitations do not erase the final result; they make the claim appropriately scoped.</a:t>
            </a:r>
          </a:p>
        </p:txBody>
      </p:sp>
    </p:spTree>
    <p:extLst>
      <p:ext uri="{BB962C8B-B14F-4D97-AF65-F5344CB8AC3E}">
        <p14:creationId xmlns:p14="http://schemas.microsoft.com/office/powerpoint/2010/main" val="541585402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">
            <a:extLst xmlns:a="http://schemas.openxmlformats.org/drawingml/2006/main">
              <a:ext uri="{FF2B5EF4-FFF2-40B4-BE49-F238E27FC236}">
                <a16:creationId xmlns:a16="http://schemas.microsoft.com/office/drawing/2014/main" id="{4F670717-4DAC-4890-847D-C4A576C6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FEDHOME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99B387D-B690-49F3-BD87-FAE73D39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project contributes a complete and reproducible FedHome prototype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F1093BE4-0E8C-474B-AF44-2F7768BF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7E2C110-0C46-493B-B8DA-25DE950D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FedHome | Big Data Analytics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A4F40DD2-0467-4C70-AF51-A472903B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sp>
        <p:nvSpPr>
          <p:cNvPr id="6" name="panel">
            <a:extLst xmlns:a="http://schemas.openxmlformats.org/drawingml/2006/main">
              <a:ext uri="{FF2B5EF4-FFF2-40B4-BE49-F238E27FC236}">
                <a16:creationId xmlns:a16="http://schemas.microsoft.com/office/drawing/2014/main" id="{3A129626-2105-459A-B12D-9C8324F1A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43125"/>
            <a:ext cx="2652713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1ED48FE-7FAE-4029-895C-9B1FD0DD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71725"/>
            <a:ext cx="2309813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Data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D3CAA68-B78A-4EFB-8FE4-0A6E9C88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2309813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Spark-assisted profile construction and benchmark outputs.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6C9A24E-A3A8-4B96-BE0A-7924A6288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4663" y="307657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-&gt;</a:t>
            </a:r>
          </a:p>
        </p:txBody>
      </p:sp>
      <p:sp>
        <p:nvSpPr>
          <p:cNvPr id="10" name="panel">
            <a:extLst xmlns:a="http://schemas.openxmlformats.org/drawingml/2006/main">
              <a:ext uri="{FF2B5EF4-FFF2-40B4-BE49-F238E27FC236}">
                <a16:creationId xmlns:a16="http://schemas.microsoft.com/office/drawing/2014/main" id="{0AD470D0-81EF-41FB-9785-03FBC81D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8513" y="2143125"/>
            <a:ext cx="2652713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866D2D9-07E0-4612-8090-3E0ACBE1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963" y="2371725"/>
            <a:ext cx="2309813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Clustering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7891977-279C-474A-8E89-570D0201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963" y="2981325"/>
            <a:ext cx="2309813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JS distance matrix, Ward assignments, and diagnostics.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A7AD038-6D85-4DC6-9AE7-5E92E182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07657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-&gt;</a:t>
            </a:r>
          </a:p>
        </p:txBody>
      </p:sp>
      <p:sp>
        <p:nvSpPr>
          <p:cNvPr id="14" name="panel">
            <a:extLst xmlns:a="http://schemas.openxmlformats.org/drawingml/2006/main">
              <a:ext uri="{FF2B5EF4-FFF2-40B4-BE49-F238E27FC236}">
                <a16:creationId xmlns:a16="http://schemas.microsoft.com/office/drawing/2014/main" id="{5F71334A-C306-4DCC-A028-D0744D1B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143125"/>
            <a:ext cx="2652713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77B5643-1065-407A-924E-4D0F7122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71725"/>
            <a:ext cx="2309813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Training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77C0B5B-A3D7-4323-B6A2-F2464009B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81325"/>
            <a:ext cx="2309813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Cluster-wise FedMSE runs on deterministic splits.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7139A86F-1FBD-488B-8C5F-6CBFAD93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2988" y="307657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-&gt;</a:t>
            </a:r>
          </a:p>
        </p:txBody>
      </p:sp>
      <p:sp>
        <p:nvSpPr>
          <p:cNvPr id="18" name="panel">
            <a:extLst xmlns:a="http://schemas.openxmlformats.org/drawingml/2006/main">
              <a:ext uri="{FF2B5EF4-FFF2-40B4-BE49-F238E27FC236}">
                <a16:creationId xmlns:a16="http://schemas.microsoft.com/office/drawing/2014/main" id="{9188B366-BC7B-44A7-A2B1-97771E00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6838" y="2143125"/>
            <a:ext cx="2652713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FD95E28-51A1-4D46-A2AA-0FB7A08D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8288" y="2371725"/>
            <a:ext cx="2309813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Evaluation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3E618BD9-E129-4011-B68B-6AB1DDF8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8288" y="2981325"/>
            <a:ext cx="2309813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Final ensemble model and baseline comparison.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68A3D221-FE7F-434F-9E4E-A9606F45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artifacts are ready for presentation and can support a later paper draft.</a:t>
            </a:r>
          </a:p>
        </p:txBody>
      </p:sp>
    </p:spTree>
    <p:extLst>
      <p:ext uri="{BB962C8B-B14F-4D97-AF65-F5344CB8AC3E}">
        <p14:creationId xmlns:p14="http://schemas.microsoft.com/office/powerpoint/2010/main" val="1341231434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kicker">
            <a:extLst xmlns:a="http://schemas.openxmlformats.org/drawingml/2006/main">
              <a:ext uri="{FF2B5EF4-FFF2-40B4-BE49-F238E27FC236}">
                <a16:creationId xmlns:a16="http://schemas.microsoft.com/office/drawing/2014/main" id="{C1527590-6CA4-4137-8699-5C4C7C54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FEDHOME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9C11704-BA46-4F76-B2E8-B296963EF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Presentation and paper assets are already consolidated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63D51E0-970B-4EF0-B29E-DE4D5A81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2CA237C-87D3-44A0-8883-01CFFEC7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FedHome | Big Data Analytics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42BCA6CA-E5DB-4108-82CE-E90435D4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14350" y="2000250"/>
          <a:ext xmlns:a="http://schemas.openxmlformats.org/drawingml/2006/main" cx="10934700" cy="2857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000250"/>
                <a:gridCol w="4171950"/>
                <a:gridCol w="4762500"/>
              </a:tblGrid>
              <a:tr h="5715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Asset type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Folder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Use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Figures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presentation/assets_20260808/figures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clustering, convergence, heatmaps, distributions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Tables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presentation/assets_20260808/tables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baseline, phase summaries, client results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Report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PROJECT_REPORT.md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academic narrative and exact screenshot ranges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Final result note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FINAL_RESULTS_20260808.md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headline metrics and authoritative artifacts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1C4E615-3751-430D-9654-6C97881B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This deck uses the consolidated asset folder as the visual source of truth.</a:t>
            </a:r>
          </a:p>
        </p:txBody>
      </p:sp>
    </p:spTree>
    <p:extLst>
      <p:ext uri="{BB962C8B-B14F-4D97-AF65-F5344CB8AC3E}">
        <p14:creationId xmlns:p14="http://schemas.microsoft.com/office/powerpoint/2010/main" val="719817098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6DC441A-6B5F-48E2-A204-B76B87FB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FEDHOME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C1C23BA1-F218-484C-8029-D35AAB81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885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Accounting for heterogeneity improved privacy-preserving IoT anomaly detection.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3B07099-817B-4A8B-8B5F-61791715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48125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Under a reproducible 50-gateway non-IID evaluation, the cluster-aware FedHome ensemble improved global average AUC over a strong FedMSE baseline.</a:t>
            </a:r>
          </a:p>
        </p:txBody>
      </p:sp>
      <p:sp>
        <p:nvSpPr>
          <p:cNvPr id="4" name="panel">
            <a:extLst xmlns:a="http://schemas.openxmlformats.org/drawingml/2006/main">
              <a:ext uri="{FF2B5EF4-FFF2-40B4-BE49-F238E27FC236}">
                <a16:creationId xmlns:a16="http://schemas.microsoft.com/office/drawing/2014/main" id="{FCF91071-AED1-43AB-B3E4-C37DC8E0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57650"/>
            <a:ext cx="2619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1014B0C-5B4C-4EBD-B9F8-6A7D5374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958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0.993082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C7A3DA3-3A98-4BB1-93FB-B21F79B2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958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final ensemble AUC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F7AC8ED-8287-4A99-B8A5-31CF929A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5721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baseline: 0.970844</a:t>
            </a:r>
          </a:p>
        </p:txBody>
      </p:sp>
      <p:sp>
        <p:nvSpPr>
          <p:cNvPr id="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D474169-7D25-406D-9778-B2A2FA54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FedHome | Big Data Analytics</a:t>
            </a:r>
          </a:p>
        </p:txBody>
      </p:sp>
      <p:sp>
        <p:nvSpPr>
          <p:cNvPr id="9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63F78A61-3AF8-4CF6-90C2-5CF25C28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6094165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2026-08-08T10:29:46.1820000Z</dcterms:created>
  <dcterms:modified xsi:type="dcterms:W3CDTF">2026-08-08T10:29:46.1820000Z</dcterms:modified>
</coreProperties>
</file>